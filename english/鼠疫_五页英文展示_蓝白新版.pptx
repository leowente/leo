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640890c18f54408" Type="http://schemas.openxmlformats.org/officeDocument/2006/relationships/extended-properties" Target="docProps/app.xml"/><Relationship Id="R99c5fb74ef2b40eb" Type="http://schemas.openxmlformats.org/officeDocument/2006/relationships/officeDocument" Target="ppt/presentation.xml"/><Relationship Id="Re44904cd38d34159"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794a0d93141e4f8a"/>
  </p:sldMasterIdLst>
  <p:notesMasterIdLst>
    <p:notesMasterId xmlns:r="http://schemas.openxmlformats.org/officeDocument/2006/relationships" r:id="R732c08efdbb84184"/>
  </p:notesMasterIdLst>
  <p:sldIdLst>
    <p:sldId xmlns:r="http://schemas.openxmlformats.org/officeDocument/2006/relationships" id="256" r:id="R864cfa4a230448eb"/>
    <p:sldId xmlns:ns0="http://schemas.openxmlformats.org/officeDocument/2006/relationships" id="257" ns0:id="rId8"/>
    <p:sldId xmlns:ns0="http://schemas.openxmlformats.org/officeDocument/2006/relationships" id="258" ns0:id="rId9"/>
    <p:sldId xmlns:ns0="http://schemas.openxmlformats.org/officeDocument/2006/relationships" id="259" ns0:id="rId10"/>
    <p:sldId xmlns:ns0="http://schemas.openxmlformats.org/officeDocument/2006/relationships" id="260" ns0:id="rId1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2623924001a549fa" Type="http://schemas.openxmlformats.org/officeDocument/2006/relationships/tableStyles" Target="tableStyles.xml"/><Relationship Id="R732c08efdbb84184" Type="http://schemas.openxmlformats.org/officeDocument/2006/relationships/notesMaster" Target="notesMasters/notesMaster1.xml"/><Relationship Id="R794a0d93141e4f8a" Type="http://schemas.openxmlformats.org/officeDocument/2006/relationships/slideMaster" Target="slideMasters/slideMaster1.xml"/><Relationship Id="R864cfa4a230448eb" Type="http://schemas.openxmlformats.org/officeDocument/2006/relationships/slide" Target="slides/slide1.xml"/><Relationship Id="Ra8e4d2df81e4402b" Type="http://schemas.openxmlformats.org/officeDocument/2006/relationships/theme" Target="theme/theme1.xml"/><Relationship Id="Rf832fed0d1974094" Type="http://schemas.openxmlformats.org/officeDocument/2006/relationships/presProps" Target="presProps.xml"/><Relationship Id="Rfe8fba9e78464180" Type="http://schemas.openxmlformats.org/officeDocument/2006/relationships/viewProps" Target="viewProp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02fab06b7e394e0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60c396788694831" Type="http://schemas.openxmlformats.org/officeDocument/2006/relationships/notesMaster" Target="../notesMasters/notesMaster1.xml"/><Relationship Id="Re5a0a6e34a934bf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Speaker A</a:t>
            </a:r>
          </a:p>
          <a:p xmlns:a="http://schemas.openxmlformats.org/drawingml/2006/main"/>
          <a:p xmlns:a="http://schemas.openxmlformats.org/drawingml/2006/main">
            <a:r>
              <a:t>SCRIPT A: adapted from original</a:t>
            </a:r>
          </a:p>
          <a:p xmlns:a="http://schemas.openxmlformats.org/drawingml/2006/main">
            <a:r>
              <a:t>Good morning, teachers and classmates. I'm A. Today, my partner and I will talk about plague. Look at this mouse. Isn't it cute? But some wild mice and rats, and the fleas on them, can carry plague bacteria. Of course, not every mouse has the disease. How can a small flea cause such a serious problem?</a:t>
            </a:r>
          </a:p>
          <a:p xmlns:a="http://schemas.openxmlformats.org/drawingml/2006/main"/>
          <a:p xmlns:a="http://schemas.openxmlformats.org/drawingml/2006/main">
            <a:r>
              <a:t>SCRIPT B: new deck only</a:t>
            </a:r>
          </a:p>
          <a:p xmlns:a="http://schemas.openxmlformats.org/drawingml/2006/main">
            <a:r>
              <a:t>Good morning, everyone. I'm A. Our topic today is plague. The mouse in this picture looks harmless. So why are we talking about a dangerous disease? Some wild animals and the fleas on them can carry the bacteria that cause plague. The picture introduces our question; it does not show an infected mouse. Let's learn what plague is and how it spreads.</a:t>
            </a:r>
          </a:p>
          <a:p xmlns:a="http://schemas.openxmlformats.org/drawingml/2006/main"/>
          <a:p xmlns:a="http://schemas.openxmlformats.org/drawingml/2006/main">
            <a:r>
              <a:t>SOURCES</a:t>
            </a:r>
          </a:p>
          <a:p xmlns:a="http://schemas.openxmlformats.org/drawingml/2006/main">
            <a:r>
              <a:t>https://www.cdc.gov/plague/about/index.html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Speaker A</a:t>
            </a:r>
          </a:p>
          <a:p/>
          <a:p>
            <a:r>
              <a:t>SCRIPT A: adapted from original</a:t>
            </a:r>
          </a:p>
          <a:p>
            <a:r>
              <a:t>Plague is a serious disease caused by bacteria called Yersinia pestis. It is not caused by a virus. Look at the three boxes. A flea bites an infected animal and picks up the bacteria. Then it bites a person and passes them on. People can also get sick through contact with an infected animal's blood or body tissues. Pneumonic plague can spread through cough droplets during close contact.</a:t>
            </a:r>
          </a:p>
          <a:p/>
          <a:p>
            <a:r>
              <a:t>SCRIPT B: new deck only</a:t>
            </a:r>
          </a:p>
          <a:p>
            <a:r>
              <a:t>On this slide, the key word is bacteria. Plague is caused by Yersinia pestis, not a virus. The three boxes show one common route. First, a flea feeds on an infected animal. Next, that flea carries the bacteria. Then it bites a person. There are two other routes: contact with infected animal tissues, and close contact with a person who has lung plague. That person can spread bacteria through cough droplets.</a:t>
            </a:r>
          </a:p>
          <a:p/>
          <a:p>
            <a:r>
              <a:t>SOURCES</a:t>
            </a:r>
          </a:p>
          <a:p>
            <a:r>
              <a:t>https://www.who.int/news-room/fact-sheets/detail/plague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Speaker A</a:t>
            </a:r>
          </a:p>
          <a:p/>
          <a:p>
            <a:r>
              <a:t>SCRIPT A: adapted from original</a:t>
            </a:r>
          </a:p>
          <a:p>
            <a:r>
              <a:t>There are three main types of plague. Bubonic plague causes swollen and painful lymph nodes. It is the most common type. Septicemic plague affects the blood and can cause shock and serious bleeding. Pneumonic plague affects the lungs and can make breathing difficult. These are different forms of the same disease. All three types need quick treatment. People may also have a sudden fever, headache, and feel very weak. A doctor must check these signs carefully. Now, my partner will show us where plague has happened and why it matters.</a:t>
            </a:r>
          </a:p>
          <a:p/>
          <a:p>
            <a:r>
              <a:t>SCRIPT B: new deck only</a:t>
            </a:r>
          </a:p>
          <a:p>
            <a:r>
              <a:t>This slide compares three forms. Bubonic plague mainly affects the lymph nodes, which become swollen and painful. Septicemic plague affects the blood and can cause shock or bleeding. Pneumonic plague affects the lungs and causes breathing problems. The blue message below is important: every form needs quick medical care. An untreated infection can spread to other parts of the body. People with plague may also develop a sudden fever, headache, and weakness. These signs alone do not prove someone has plague. My partner will now explain the history and the harm.</a:t>
            </a:r>
          </a:p>
          <a:p/>
          <a:p>
            <a:r>
              <a:t>SOURCES</a:t>
            </a:r>
          </a:p>
          <a:p>
            <a:r>
              <a:t>https://www.cdc.gov/plague/signs-symptoms/index.html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Speaker B</a:t>
            </a:r>
          </a:p>
          <a:p/>
          <a:p>
            <a:r>
              <a:t>SCRIPT A: adapted from original</a:t>
            </a:r>
          </a:p>
          <a:p>
            <a:r>
              <a:t>Thank you, A. Hello everyone, I'm B. Plague caused the Black Death hundreds of years ago. Many people died because they had no effective medicine. It also affected China. During the outbreak in northeast China in nineteen ten and nineteen eleven, about sixty thousand people died. Doctor Wu Lien-teh helped lead the fight against it. Plague still exists today. In Madagascar in twenty seventeen, an outbreak affected many people. By November twenty-second, over two thousand cases had been reported, including suspected cases. These examples show that plague is part of both history and modern life.</a:t>
            </a:r>
          </a:p>
          <a:p/>
          <a:p>
            <a:r>
              <a:t>SCRIPT B: new deck only</a:t>
            </a:r>
          </a:p>
          <a:p>
            <a:r>
              <a:t>Thank you, A. I'm B. This slide takes us from the past to the present. The first example is the Black Death in the fourteenth century. It caused great loss of life in Europe. The second is northeast China in nineteen ten and nineteen eleven. About sixty thousand people died, and Doctor Wu Lien-teh helped lead the response. The third is Madagascar in twenty seventeen. By November twenty-second, over two thousand cases had been reported, including suspected cases. This recent outbreak reminds us that plague has not disappeared. It is still important to find cases and treat people early.</a:t>
            </a:r>
          </a:p>
          <a:p/>
          <a:p>
            <a:r>
              <a:t>SOURCES</a:t>
            </a:r>
          </a:p>
          <a:p>
            <a:r>
              <a:t>https://www.who.int/emergencies/disease-outbreak-news/item/27-november-2017-plague-madagascar-en</a:t>
            </a:r>
          </a:p>
          <a:p>
            <a:r>
              <a:t>https://digitalrepository.lib.hku.hk/plague</a:t>
            </a:r>
          </a:p>
          <a:p>
            <a:r>
              <a:t>https://www.who.int/news-room/fact-sheets/detail/plague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Speaker B</a:t>
            </a:r>
          </a:p>
          <a:p/>
          <a:p>
            <a:r>
              <a:t>SCRIPT A: adapted from original</a:t>
            </a:r>
          </a:p>
          <a:p>
            <a:r>
              <a:t>Look at this picture from our original presentation. It is an illustration of an old town, not a real outbreak photo. It helps us think about the fear that disease can bring. Plague can damage the lungs, cause serious bleeding, and even lead to death. Outbreaks also put pressure on hospitals and families. But there is hope. Antibiotics can treat plague, and early treatment can save lives. Do not touch sick or dead wild animals. Protect yourself from flea bites. If you feel sick after possible contact, get medical help quickly and tell the doctor what happened. Do not try to treat it yourself. Let's respect wildlife and follow medical advice. Thank you for listening!</a:t>
            </a:r>
          </a:p>
          <a:p/>
          <a:p>
            <a:r>
              <a:t>SCRIPT B: new deck only</a:t>
            </a:r>
          </a:p>
          <a:p>
            <a:r>
              <a:t>The picture shows an old town. It is an illustration, not a real photo of an outbreak. It helps us imagine how a serious disease can affect daily life. Beside the photo, we can see the main dangers. Plague can harm the lungs and blood, cause serious bleeding, and lead to death. It can also place a heavy burden on hospitals and families. However, the message at the bottom gives us hope: early antibiotics can save lives. We can reduce risk by avoiding flea bites and leaving sick or dead wild animals alone. After possible exposure, anyone who becomes ill should get medical help quickly. Thank you for listening.</a:t>
            </a:r>
          </a:p>
          <a:p/>
          <a:p>
            <a:r>
              <a:t>SOURCES</a:t>
            </a:r>
          </a:p>
          <a:p>
            <a:r>
              <a:t>Illustration reused from slide 2 of the user-supplied 鼠疫_蓝白模板版.pptx. It is a historical scene illustration, not documentary evidence or an actual outbreak photograph. Original image provenance was not supplied; no external photo attribution is asserted.</a:t>
            </a:r>
          </a:p>
          <a:p>
            <a:r>
              <a:t>https://www.cdc.gov/plague/signs-symptoms/index.html</a:t>
            </a:r>
          </a:p>
          <a:p>
            <a:r>
              <a:t>https://www.cdc.gov/plague/about/index.html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4808a418acd4e5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577c2c3237564c6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264f46a2fcba4de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2f28096ab1148bd"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5ab8c56bbd24c3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bdb5013e03c489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B069D-15E6-4A60-9AD3-CC92E61053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9B59999-08C6-4734-8DAB-B0B4C9EB79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962002-493E-4653-B5E1-11221B2E91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8D19-676D-4AB8-A1BB-85819FEC1C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DD776800-684A-499F-BBC4-446E4157BE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DD29E8-451E-4827-A190-35F4C19FDC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1B9FB0F-C9EA-4EE7-80D3-EBBD1783DD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A41A40D-37BF-495D-9082-F81A60D36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53E04D-582B-4013-90CC-CA6163EAF1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FF9E503-1310-4E05-B8B2-FE38B338BD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230580c448f4f99" Type="http://schemas.openxmlformats.org/officeDocument/2006/relationships/slideLayout" Target="../slideLayouts/slideLayout1.xml"/><Relationship Id="R0c2981c7ebfa4b18" Type="http://schemas.openxmlformats.org/officeDocument/2006/relationships/slideLayout" Target="../slideLayouts/slideLayout6.xml"/><Relationship Id="R1eb816924e314778" Type="http://schemas.openxmlformats.org/officeDocument/2006/relationships/slideLayout" Target="../slideLayouts/slideLayout5.xml"/><Relationship Id="R7292baaccd6a4b06" Type="http://schemas.openxmlformats.org/officeDocument/2006/relationships/slideLayout" Target="../slideLayouts/slideLayout3.xml"/><Relationship Id="R895e802c7b044dd3" Type="http://schemas.openxmlformats.org/officeDocument/2006/relationships/slideLayout" Target="../slideLayouts/slideLayout2.xml"/><Relationship Id="Rce7a8b00fc5c4d00" Type="http://schemas.openxmlformats.org/officeDocument/2006/relationships/theme" Target="theme/theme2.xml"/><Relationship Id="Rdbec50c1a0054d04"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30580c448f4f99"/>
    <p:sldLayoutId xmlns:r="http://schemas.openxmlformats.org/officeDocument/2006/relationships" id="2147483650" r:id="R895e802c7b044dd3"/>
    <p:sldLayoutId xmlns:r="http://schemas.openxmlformats.org/officeDocument/2006/relationships" id="2147483651" r:id="R7292baaccd6a4b06"/>
    <p:sldLayoutId xmlns:r="http://schemas.openxmlformats.org/officeDocument/2006/relationships" id="2147483652" r:id="Rdbec50c1a0054d04"/>
    <p:sldLayoutId xmlns:r="http://schemas.openxmlformats.org/officeDocument/2006/relationships" id="2147483653" r:id="R1eb816924e314778"/>
    <p:sldLayoutId xmlns:r="http://schemas.openxmlformats.org/officeDocument/2006/relationships" id="2147483654" r:id="R0c2981c7ebfa4b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bca01f87a3b471b" Type="http://schemas.openxmlformats.org/officeDocument/2006/relationships/notesSlide" Target="../notesSlides/notesSlide1.xml"/><Relationship Id="R2a7e2b3b508a48c7" Type="http://schemas.openxmlformats.org/officeDocument/2006/relationships/slideLayout" Target="../slideLayouts/slideLayout6.xml"/><Relationship Id="R917e931bfda646a5" Type="http://schemas.openxmlformats.org/officeDocument/2006/relationships/image" Target="../media/image.jpeg"/><Relationship Id="R9822523e4ebe452a" Type="http://schemas.openxmlformats.org/officeDocument/2006/relationships/image" Target="../media/image.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5.xml"/></Relationships>
</file>

<file path=ppt/slides/slide1.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E6573B8-588E-460C-9F9F-6F26A5CFAA45}"/>
              </a:ext>
            </a:extLst>
          </p:cNvPr>
          <p:cNvSpPr>
            <a:spLocks xmlns:a="http://schemas.openxmlformats.org/drawingml/2006/main" noGrp="1"/>
          </p:cNvSpPr>
          <p:nvPr/>
        </p:nvSpPr>
        <p:spPr>
          <a:xfrm xmlns:a="http://schemas.openxmlformats.org/drawingml/2006/main">
            <a:off x="0" y="0"/>
            <a:ext cx="8058150" cy="990600"/>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txBody xmlns:a="http://schemas.openxmlformats.org/drawingml/2006/main">
          <a:bodyPr/>
          <a:p/>
        </p:txBody>
      </p:sp>
      <p:pic>
        <p:nvPicPr>
          <p:cNvPr id="3" name="图片 2">
            <a:extLst xmlns:a="http://schemas.openxmlformats.org/drawingml/2006/main">
              <a:ext uri="{FF2B5EF4-FFF2-40B4-BE49-F238E27FC236}">
                <a16:creationId xmlns:a16="http://schemas.microsoft.com/office/drawing/2014/main" id="{2308A089-FD8B-47F9-8FD1-AA30CB06E50E}"/>
              </a:ext>
            </a:extLst>
          </p:cNvPr>
          <p:cNvPicPr>
            <a:picLocks xmlns:a="http://schemas.openxmlformats.org/drawingml/2006/main" noChangeAspect="1"/>
          </p:cNvPicPr>
          <p:nvPr/>
        </p:nvPicPr>
        <p:blipFill>
          <a:blip xmlns:r="http://schemas.openxmlformats.org/officeDocument/2006/relationships" xmlns:a="http://schemas.openxmlformats.org/drawingml/2006/main" r:embed="R9822523e4ebe452a"/>
          <a:stretch xmlns:a="http://schemas.openxmlformats.org/drawingml/2006/main"/>
        </p:blipFill>
        <p:spPr>
          <a:xfrm xmlns:a="http://schemas.openxmlformats.org/drawingml/2006/main">
            <a:off x="1133852" y="209550"/>
            <a:ext cx="2551946" cy="628650"/>
          </a:xfrm>
          <a:prstGeom xmlns:a="http://schemas.openxmlformats.org/drawingml/2006/main" prst="rect">
            <a:avLst/>
          </a:prstGeom>
        </p:spPr>
      </p:pic>
      <p:sp>
        <p:nvSpPr>
          <p:cNvPr id="4" name="矩形 3">
            <a:extLst xmlns:a="http://schemas.openxmlformats.org/drawingml/2006/main">
              <a:ext uri="{FF2B5EF4-FFF2-40B4-BE49-F238E27FC236}">
                <a16:creationId xmlns:a16="http://schemas.microsoft.com/office/drawing/2014/main" id="{E2529D66-1620-43A5-8E4E-C5F628717022}"/>
              </a:ext>
            </a:extLst>
          </p:cNvPr>
          <p:cNvSpPr>
            <a:spLocks xmlns:a="http://schemas.openxmlformats.org/drawingml/2006/main" noGrp="1"/>
          </p:cNvSpPr>
          <p:nvPr/>
        </p:nvSpPr>
        <p:spPr>
          <a:xfrm xmlns:a="http://schemas.openxmlformats.org/drawingml/2006/main">
            <a:off x="571500" y="13525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2878A5"/>
                </a:solidFill>
                <a:latin typeface="Arial"/>
                <a:ea typeface="Arial"/>
                <a:cs typeface="Arial"/>
              </a:defRPr>
            </a:defPPr>
            <a:lvl1pPr algn="l">
              <a:buNone/>
              <a:defRPr sz="900" b="1">
                <a:solidFill>
                  <a:srgbClr val="2878A5"/>
                </a:solidFill>
                <a:latin typeface="Arial"/>
                <a:ea typeface="Arial"/>
                <a:cs typeface="Arial"/>
              </a:defRPr>
            </a:lvl1pPr>
            <a:lvl2pPr algn="l">
              <a:buNone/>
              <a:defRPr sz="900" b="1">
                <a:solidFill>
                  <a:srgbClr val="2878A5"/>
                </a:solidFill>
                <a:latin typeface="Arial"/>
                <a:ea typeface="Arial"/>
                <a:cs typeface="Arial"/>
              </a:defRPr>
            </a:lvl2pPr>
            <a:lvl3pPr algn="l">
              <a:buNone/>
              <a:defRPr sz="900" b="1">
                <a:solidFill>
                  <a:srgbClr val="2878A5"/>
                </a:solidFill>
                <a:latin typeface="Arial"/>
                <a:ea typeface="Arial"/>
                <a:cs typeface="Arial"/>
              </a:defRPr>
            </a:lvl3pPr>
            <a:lvl4pPr algn="l">
              <a:buNone/>
              <a:defRPr sz="900" b="1">
                <a:solidFill>
                  <a:srgbClr val="2878A5"/>
                </a:solidFill>
                <a:latin typeface="Arial"/>
                <a:ea typeface="Arial"/>
                <a:cs typeface="Arial"/>
              </a:defRPr>
            </a:lvl4pPr>
            <a:lvl5pPr algn="l">
              <a:buNone/>
              <a:defRPr sz="900" b="1">
                <a:solidFill>
                  <a:srgbClr val="2878A5"/>
                </a:solidFill>
                <a:latin typeface="Arial"/>
                <a:ea typeface="Arial"/>
                <a:cs typeface="Arial"/>
              </a:defRPr>
            </a:lvl5pPr>
            <a:lvl6pPr algn="l">
              <a:buNone/>
              <a:defRPr sz="900" b="1">
                <a:solidFill>
                  <a:srgbClr val="2878A5"/>
                </a:solidFill>
                <a:latin typeface="Arial"/>
                <a:ea typeface="Arial"/>
                <a:cs typeface="Arial"/>
              </a:defRPr>
            </a:lvl6pPr>
            <a:lvl7pPr algn="l">
              <a:buNone/>
              <a:defRPr sz="900" b="1">
                <a:solidFill>
                  <a:srgbClr val="2878A5"/>
                </a:solidFill>
                <a:latin typeface="Arial"/>
                <a:ea typeface="Arial"/>
                <a:cs typeface="Arial"/>
              </a:defRPr>
            </a:lvl7pPr>
            <a:lvl8pPr algn="l">
              <a:buNone/>
              <a:defRPr sz="900" b="1">
                <a:solidFill>
                  <a:srgbClr val="2878A5"/>
                </a:solidFill>
                <a:latin typeface="Arial"/>
                <a:ea typeface="Arial"/>
                <a:cs typeface="Arial"/>
              </a:defRPr>
            </a:lvl8pPr>
            <a:lvl9pPr algn="l">
              <a:buNone/>
              <a:defRPr sz="900" b="1">
                <a:solidFill>
                  <a:srgbClr val="2878A5"/>
                </a:solidFill>
                <a:latin typeface="Arial"/>
                <a:ea typeface="Arial"/>
                <a:cs typeface="Arial"/>
              </a:defRPr>
            </a:lvl9pPr>
          </a:lstStyle>
          <a:p xmlns:a="http://schemas.openxmlformats.org/drawingml/2006/main">
            <a:pPr algn="l">
              <a:lnSpc>
                <a:spcPct val="105000"/>
              </a:lnSpc>
              <a:buNone/>
              <a:defRPr sz="900" b="1">
                <a:solidFill>
                  <a:srgbClr val="2878A5"/>
                </a:solidFill>
                <a:latin typeface="Arial"/>
                <a:ea typeface="Arial"/>
                <a:cs typeface="Arial"/>
              </a:defRPr>
            </a:pPr>
            <a:r>
              <a:rPr sz="900" b="1">
                <a:solidFill>
                  <a:srgbClr val="2878A5"/>
                </a:solidFill>
                <a:latin typeface="Times New Roman"/>
                <a:ea typeface="Times New Roman"/>
                <a:cs typeface="Times New Roman"/>
              </a:rPr>
              <a:t>ADVANCED ENGLISH LISTENING AND SPEAKING</a:t>
            </a:r>
          </a:p>
        </p:txBody>
      </p:sp>
      <p:sp>
        <p:nvSpPr>
          <p:cNvPr id="5" name="矩形 4">
            <a:extLst xmlns:a="http://schemas.openxmlformats.org/drawingml/2006/main">
              <a:ext uri="{FF2B5EF4-FFF2-40B4-BE49-F238E27FC236}">
                <a16:creationId xmlns:a16="http://schemas.microsoft.com/office/drawing/2014/main" id="{B2881BCA-2C4E-41CF-8AF9-9FBC5D909CBB}"/>
              </a:ext>
            </a:extLst>
          </p:cNvPr>
          <p:cNvSpPr>
            <a:spLocks xmlns:a="http://schemas.openxmlformats.org/drawingml/2006/main" noGrp="1"/>
          </p:cNvSpPr>
          <p:nvPr/>
        </p:nvSpPr>
        <p:spPr>
          <a:xfrm xmlns:a="http://schemas.openxmlformats.org/drawingml/2006/main">
            <a:off x="571500" y="1771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050" b="1">
                <a:solidFill>
                  <a:srgbClr val="66717B"/>
                </a:solidFill>
                <a:latin typeface="Arial"/>
                <a:ea typeface="Arial"/>
                <a:cs typeface="Arial"/>
              </a:defRPr>
            </a:defPPr>
            <a:lvl1pPr algn="l">
              <a:buNone/>
              <a:defRPr sz="1050" b="1">
                <a:solidFill>
                  <a:srgbClr val="66717B"/>
                </a:solidFill>
                <a:latin typeface="Arial"/>
                <a:ea typeface="Arial"/>
                <a:cs typeface="Arial"/>
              </a:defRPr>
            </a:lvl1pPr>
            <a:lvl2pPr algn="l">
              <a:buNone/>
              <a:defRPr sz="1050" b="1">
                <a:solidFill>
                  <a:srgbClr val="66717B"/>
                </a:solidFill>
                <a:latin typeface="Arial"/>
                <a:ea typeface="Arial"/>
                <a:cs typeface="Arial"/>
              </a:defRPr>
            </a:lvl2pPr>
            <a:lvl3pPr algn="l">
              <a:buNone/>
              <a:defRPr sz="1050" b="1">
                <a:solidFill>
                  <a:srgbClr val="66717B"/>
                </a:solidFill>
                <a:latin typeface="Arial"/>
                <a:ea typeface="Arial"/>
                <a:cs typeface="Arial"/>
              </a:defRPr>
            </a:lvl3pPr>
            <a:lvl4pPr algn="l">
              <a:buNone/>
              <a:defRPr sz="1050" b="1">
                <a:solidFill>
                  <a:srgbClr val="66717B"/>
                </a:solidFill>
                <a:latin typeface="Arial"/>
                <a:ea typeface="Arial"/>
                <a:cs typeface="Arial"/>
              </a:defRPr>
            </a:lvl4pPr>
            <a:lvl5pPr algn="l">
              <a:buNone/>
              <a:defRPr sz="1050" b="1">
                <a:solidFill>
                  <a:srgbClr val="66717B"/>
                </a:solidFill>
                <a:latin typeface="Arial"/>
                <a:ea typeface="Arial"/>
                <a:cs typeface="Arial"/>
              </a:defRPr>
            </a:lvl5pPr>
            <a:lvl6pPr algn="l">
              <a:buNone/>
              <a:defRPr sz="1050" b="1">
                <a:solidFill>
                  <a:srgbClr val="66717B"/>
                </a:solidFill>
                <a:latin typeface="Arial"/>
                <a:ea typeface="Arial"/>
                <a:cs typeface="Arial"/>
              </a:defRPr>
            </a:lvl6pPr>
            <a:lvl7pPr algn="l">
              <a:buNone/>
              <a:defRPr sz="1050" b="1">
                <a:solidFill>
                  <a:srgbClr val="66717B"/>
                </a:solidFill>
                <a:latin typeface="Arial"/>
                <a:ea typeface="Arial"/>
                <a:cs typeface="Arial"/>
              </a:defRPr>
            </a:lvl7pPr>
            <a:lvl8pPr algn="l">
              <a:buNone/>
              <a:defRPr sz="1050" b="1">
                <a:solidFill>
                  <a:srgbClr val="66717B"/>
                </a:solidFill>
                <a:latin typeface="Arial"/>
                <a:ea typeface="Arial"/>
                <a:cs typeface="Arial"/>
              </a:defRPr>
            </a:lvl8pPr>
            <a:lvl9pPr algn="l">
              <a:buNone/>
              <a:defRPr sz="1050" b="1">
                <a:solidFill>
                  <a:srgbClr val="66717B"/>
                </a:solidFill>
                <a:latin typeface="Arial"/>
                <a:ea typeface="Arial"/>
                <a:cs typeface="Arial"/>
              </a:defRPr>
            </a:lvl9pPr>
          </a:lstStyle>
          <a:p xmlns:a="http://schemas.openxmlformats.org/drawingml/2006/main">
            <a:pPr algn="l">
              <a:lnSpc>
                <a:spcPct val="105000"/>
              </a:lnSpc>
              <a:buNone/>
              <a:defRPr sz="1050" b="1">
                <a:solidFill>
                  <a:srgbClr val="66717B"/>
                </a:solidFill>
                <a:latin typeface="Arial"/>
                <a:ea typeface="Arial"/>
                <a:cs typeface="Arial"/>
              </a:defRPr>
            </a:pPr>
            <a:r>
              <a:rPr sz="1050" b="1">
                <a:solidFill>
                  <a:srgbClr val="66717B"/>
                </a:solidFill>
                <a:latin typeface="Times New Roman"/>
                <a:ea typeface="Times New Roman"/>
                <a:cs typeface="Times New Roman"/>
              </a:rPr>
              <a:t>UNIT 3</a:t>
            </a:r>
          </a:p>
        </p:txBody>
      </p:sp>
      <p:sp>
        <p:nvSpPr>
          <p:cNvPr id="6" name="矩形 5">
            <a:extLst xmlns:a="http://schemas.openxmlformats.org/drawingml/2006/main">
              <a:ext uri="{FF2B5EF4-FFF2-40B4-BE49-F238E27FC236}">
                <a16:creationId xmlns:a16="http://schemas.microsoft.com/office/drawing/2014/main" id="{E4653C7D-6CB6-491A-B4F2-A0DF09A21C84}"/>
              </a:ext>
            </a:extLst>
          </p:cNvPr>
          <p:cNvSpPr>
            <a:spLocks xmlns:a="http://schemas.openxmlformats.org/drawingml/2006/main" noGrp="1"/>
          </p:cNvSpPr>
          <p:nvPr/>
        </p:nvSpPr>
        <p:spPr>
          <a:xfrm xmlns:a="http://schemas.openxmlformats.org/drawingml/2006/main">
            <a:off x="552450" y="201930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153A5B"/>
                </a:solidFill>
                <a:latin typeface="Arial"/>
                <a:ea typeface="Arial"/>
                <a:cs typeface="Arial"/>
              </a:defRPr>
            </a:defPPr>
            <a:lvl1pPr algn="l">
              <a:buNone/>
              <a:defRPr sz="4800" b="1">
                <a:solidFill>
                  <a:srgbClr val="153A5B"/>
                </a:solidFill>
                <a:latin typeface="Arial"/>
                <a:ea typeface="Arial"/>
                <a:cs typeface="Arial"/>
              </a:defRPr>
            </a:lvl1pPr>
            <a:lvl2pPr algn="l">
              <a:buNone/>
              <a:defRPr sz="4800" b="1">
                <a:solidFill>
                  <a:srgbClr val="153A5B"/>
                </a:solidFill>
                <a:latin typeface="Arial"/>
                <a:ea typeface="Arial"/>
                <a:cs typeface="Arial"/>
              </a:defRPr>
            </a:lvl2pPr>
            <a:lvl3pPr algn="l">
              <a:buNone/>
              <a:defRPr sz="4800" b="1">
                <a:solidFill>
                  <a:srgbClr val="153A5B"/>
                </a:solidFill>
                <a:latin typeface="Arial"/>
                <a:ea typeface="Arial"/>
                <a:cs typeface="Arial"/>
              </a:defRPr>
            </a:lvl3pPr>
            <a:lvl4pPr algn="l">
              <a:buNone/>
              <a:defRPr sz="4800" b="1">
                <a:solidFill>
                  <a:srgbClr val="153A5B"/>
                </a:solidFill>
                <a:latin typeface="Arial"/>
                <a:ea typeface="Arial"/>
                <a:cs typeface="Arial"/>
              </a:defRPr>
            </a:lvl4pPr>
            <a:lvl5pPr algn="l">
              <a:buNone/>
              <a:defRPr sz="4800" b="1">
                <a:solidFill>
                  <a:srgbClr val="153A5B"/>
                </a:solidFill>
                <a:latin typeface="Arial"/>
                <a:ea typeface="Arial"/>
                <a:cs typeface="Arial"/>
              </a:defRPr>
            </a:lvl5pPr>
            <a:lvl6pPr algn="l">
              <a:buNone/>
              <a:defRPr sz="4800" b="1">
                <a:solidFill>
                  <a:srgbClr val="153A5B"/>
                </a:solidFill>
                <a:latin typeface="Arial"/>
                <a:ea typeface="Arial"/>
                <a:cs typeface="Arial"/>
              </a:defRPr>
            </a:lvl6pPr>
            <a:lvl7pPr algn="l">
              <a:buNone/>
              <a:defRPr sz="4800" b="1">
                <a:solidFill>
                  <a:srgbClr val="153A5B"/>
                </a:solidFill>
                <a:latin typeface="Arial"/>
                <a:ea typeface="Arial"/>
                <a:cs typeface="Arial"/>
              </a:defRPr>
            </a:lvl7pPr>
            <a:lvl8pPr algn="l">
              <a:buNone/>
              <a:defRPr sz="4800" b="1">
                <a:solidFill>
                  <a:srgbClr val="153A5B"/>
                </a:solidFill>
                <a:latin typeface="Arial"/>
                <a:ea typeface="Arial"/>
                <a:cs typeface="Arial"/>
              </a:defRPr>
            </a:lvl8pPr>
            <a:lvl9pPr algn="l">
              <a:buNone/>
              <a:defRPr sz="4800" b="1">
                <a:solidFill>
                  <a:srgbClr val="153A5B"/>
                </a:solidFill>
                <a:latin typeface="Arial"/>
                <a:ea typeface="Arial"/>
                <a:cs typeface="Arial"/>
              </a:defRPr>
            </a:lvl9pPr>
          </a:lstStyle>
          <a:p xmlns:a="http://schemas.openxmlformats.org/drawingml/2006/main">
            <a:pPr algn="l">
              <a:lnSpc>
                <a:spcPct val="105000"/>
              </a:lnSpc>
              <a:buNone/>
              <a:defRPr sz="4800" b="1">
                <a:solidFill>
                  <a:srgbClr val="153A5B"/>
                </a:solidFill>
                <a:latin typeface="Arial"/>
                <a:ea typeface="Arial"/>
                <a:cs typeface="Arial"/>
              </a:defRPr>
            </a:pPr>
            <a:r>
              <a:rPr sz="4800" b="1">
                <a:solidFill>
                  <a:srgbClr val="153A5B"/>
                </a:solidFill>
                <a:latin typeface="Times New Roman"/>
                <a:ea typeface="Times New Roman"/>
                <a:cs typeface="Times New Roman"/>
              </a:rPr>
              <a:t>THE PLAGUE</a:t>
            </a:r>
          </a:p>
        </p:txBody>
      </p:sp>
      <p:sp>
        <p:nvSpPr>
          <p:cNvPr id="7" name="矩形 6">
            <a:extLst xmlns:a="http://schemas.openxmlformats.org/drawingml/2006/main">
              <a:ext uri="{FF2B5EF4-FFF2-40B4-BE49-F238E27FC236}">
                <a16:creationId xmlns:a16="http://schemas.microsoft.com/office/drawing/2014/main" id="{3322B6BC-CD3D-4E2D-9743-055031A2926A}"/>
              </a:ext>
            </a:extLst>
          </p:cNvPr>
          <p:cNvSpPr>
            <a:spLocks xmlns:a="http://schemas.openxmlformats.org/drawingml/2006/main" noGrp="1"/>
          </p:cNvSpPr>
          <p:nvPr/>
        </p:nvSpPr>
        <p:spPr>
          <a:xfrm xmlns:a="http://schemas.openxmlformats.org/drawingml/2006/main">
            <a:off x="590550" y="29718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82C"/>
                </a:solidFill>
                <a:latin typeface="Arial"/>
                <a:ea typeface="Arial"/>
                <a:cs typeface="Arial"/>
              </a:defRPr>
            </a:defPPr>
            <a:lvl1pPr algn="l">
              <a:buNone/>
              <a:defRPr sz="1725" b="0">
                <a:solidFill>
                  <a:srgbClr val="24282C"/>
                </a:solidFill>
                <a:latin typeface="Arial"/>
                <a:ea typeface="Arial"/>
                <a:cs typeface="Arial"/>
              </a:defRPr>
            </a:lvl1pPr>
            <a:lvl2pPr algn="l">
              <a:buNone/>
              <a:defRPr sz="1725" b="0">
                <a:solidFill>
                  <a:srgbClr val="24282C"/>
                </a:solidFill>
                <a:latin typeface="Arial"/>
                <a:ea typeface="Arial"/>
                <a:cs typeface="Arial"/>
              </a:defRPr>
            </a:lvl2pPr>
            <a:lvl3pPr algn="l">
              <a:buNone/>
              <a:defRPr sz="1725" b="0">
                <a:solidFill>
                  <a:srgbClr val="24282C"/>
                </a:solidFill>
                <a:latin typeface="Arial"/>
                <a:ea typeface="Arial"/>
                <a:cs typeface="Arial"/>
              </a:defRPr>
            </a:lvl3pPr>
            <a:lvl4pPr algn="l">
              <a:buNone/>
              <a:defRPr sz="1725" b="0">
                <a:solidFill>
                  <a:srgbClr val="24282C"/>
                </a:solidFill>
                <a:latin typeface="Arial"/>
                <a:ea typeface="Arial"/>
                <a:cs typeface="Arial"/>
              </a:defRPr>
            </a:lvl4pPr>
            <a:lvl5pPr algn="l">
              <a:buNone/>
              <a:defRPr sz="1725" b="0">
                <a:solidFill>
                  <a:srgbClr val="24282C"/>
                </a:solidFill>
                <a:latin typeface="Arial"/>
                <a:ea typeface="Arial"/>
                <a:cs typeface="Arial"/>
              </a:defRPr>
            </a:lvl5pPr>
            <a:lvl6pPr algn="l">
              <a:buNone/>
              <a:defRPr sz="1725" b="0">
                <a:solidFill>
                  <a:srgbClr val="24282C"/>
                </a:solidFill>
                <a:latin typeface="Arial"/>
                <a:ea typeface="Arial"/>
                <a:cs typeface="Arial"/>
              </a:defRPr>
            </a:lvl6pPr>
            <a:lvl7pPr algn="l">
              <a:buNone/>
              <a:defRPr sz="1725" b="0">
                <a:solidFill>
                  <a:srgbClr val="24282C"/>
                </a:solidFill>
                <a:latin typeface="Arial"/>
                <a:ea typeface="Arial"/>
                <a:cs typeface="Arial"/>
              </a:defRPr>
            </a:lvl7pPr>
            <a:lvl8pPr algn="l">
              <a:buNone/>
              <a:defRPr sz="1725" b="0">
                <a:solidFill>
                  <a:srgbClr val="24282C"/>
                </a:solidFill>
                <a:latin typeface="Arial"/>
                <a:ea typeface="Arial"/>
                <a:cs typeface="Arial"/>
              </a:defRPr>
            </a:lvl8pPr>
            <a:lvl9pPr algn="l">
              <a:buNone/>
              <a:defRPr sz="1725" b="0">
                <a:solidFill>
                  <a:srgbClr val="24282C"/>
                </a:solidFill>
                <a:latin typeface="Arial"/>
                <a:ea typeface="Arial"/>
                <a:cs typeface="Arial"/>
              </a:defRPr>
            </a:lvl9pPr>
          </a:lstStyle>
          <a:p xmlns:a="http://schemas.openxmlformats.org/drawingml/2006/main">
            <a:pPr algn="l">
              <a:lnSpc>
                <a:spcPct val="105000"/>
              </a:lnSpc>
              <a:buNone/>
              <a:defRPr sz="1725" b="0">
                <a:solidFill>
                  <a:srgbClr val="24282C"/>
                </a:solidFill>
                <a:latin typeface="Arial"/>
                <a:ea typeface="Arial"/>
                <a:cs typeface="Arial"/>
              </a:defRPr>
            </a:pPr>
            <a:r>
              <a:rPr sz="1725" b="0">
                <a:solidFill>
                  <a:srgbClr val="24282C"/>
                </a:solidFill>
                <a:latin typeface="Times New Roman"/>
                <a:ea typeface="Times New Roman"/>
                <a:cs typeface="Times New Roman"/>
              </a:rPr>
              <a:t>A small flea. A serious disease. Why?</a:t>
            </a:r>
          </a:p>
        </p:txBody>
      </p:sp>
      <p:sp>
        <p:nvSpPr>
          <p:cNvPr id="8" name="矩形 7">
            <a:extLst xmlns:a="http://schemas.openxmlformats.org/drawingml/2006/main">
              <a:ext uri="{FF2B5EF4-FFF2-40B4-BE49-F238E27FC236}">
                <a16:creationId xmlns:a16="http://schemas.microsoft.com/office/drawing/2014/main" id="{4F22CC5A-DFB5-4F63-9AD7-BD9001D82AA1}"/>
              </a:ext>
            </a:extLst>
          </p:cNvPr>
          <p:cNvSpPr>
            <a:spLocks xmlns:a="http://schemas.openxmlformats.org/drawingml/2006/main" noGrp="1"/>
          </p:cNvSpPr>
          <p:nvPr/>
        </p:nvSpPr>
        <p:spPr>
          <a:xfrm xmlns:a="http://schemas.openxmlformats.org/drawingml/2006/main">
            <a:off x="590550" y="3562350"/>
            <a:ext cx="6705600" cy="28575"/>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xmlns:a="http://schemas.openxmlformats.org/drawingml/2006/main">
          <a:bodyPr/>
          <a:p/>
        </p:txBody>
      </p:sp>
      <p:sp>
        <p:nvSpPr>
          <p:cNvPr id="11" name="矩形 10">
            <a:extLst xmlns:a="http://schemas.openxmlformats.org/drawingml/2006/main">
              <a:ext uri="{FF2B5EF4-FFF2-40B4-BE49-F238E27FC236}">
                <a16:creationId xmlns:a16="http://schemas.microsoft.com/office/drawing/2014/main" id="{005F049B-93DD-487E-B4B3-C837E8784CD7}"/>
              </a:ext>
            </a:extLst>
          </p:cNvPr>
          <p:cNvSpPr>
            <a:spLocks xmlns:a="http://schemas.openxmlformats.org/drawingml/2006/main" noGrp="1"/>
          </p:cNvSpPr>
          <p:nvPr/>
        </p:nvSpPr>
        <p:spPr>
          <a:xfrm xmlns:a="http://schemas.openxmlformats.org/drawingml/2006/main">
            <a:off x="590550" y="43624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66717B"/>
                </a:solidFill>
                <a:latin typeface="Arial"/>
                <a:ea typeface="Arial"/>
                <a:cs typeface="Arial"/>
              </a:defRPr>
            </a:defPPr>
            <a:lvl1pPr algn="l">
              <a:buNone/>
              <a:defRPr sz="900" b="1">
                <a:solidFill>
                  <a:srgbClr val="66717B"/>
                </a:solidFill>
                <a:latin typeface="Arial"/>
                <a:ea typeface="Arial"/>
                <a:cs typeface="Arial"/>
              </a:defRPr>
            </a:lvl1pPr>
            <a:lvl2pPr algn="l">
              <a:buNone/>
              <a:defRPr sz="900" b="1">
                <a:solidFill>
                  <a:srgbClr val="66717B"/>
                </a:solidFill>
                <a:latin typeface="Arial"/>
                <a:ea typeface="Arial"/>
                <a:cs typeface="Arial"/>
              </a:defRPr>
            </a:lvl2pPr>
            <a:lvl3pPr algn="l">
              <a:buNone/>
              <a:defRPr sz="900" b="1">
                <a:solidFill>
                  <a:srgbClr val="66717B"/>
                </a:solidFill>
                <a:latin typeface="Arial"/>
                <a:ea typeface="Arial"/>
                <a:cs typeface="Arial"/>
              </a:defRPr>
            </a:lvl3pPr>
            <a:lvl4pPr algn="l">
              <a:buNone/>
              <a:defRPr sz="900" b="1">
                <a:solidFill>
                  <a:srgbClr val="66717B"/>
                </a:solidFill>
                <a:latin typeface="Arial"/>
                <a:ea typeface="Arial"/>
                <a:cs typeface="Arial"/>
              </a:defRPr>
            </a:lvl4pPr>
            <a:lvl5pPr algn="l">
              <a:buNone/>
              <a:defRPr sz="900" b="1">
                <a:solidFill>
                  <a:srgbClr val="66717B"/>
                </a:solidFill>
                <a:latin typeface="Arial"/>
                <a:ea typeface="Arial"/>
                <a:cs typeface="Arial"/>
              </a:defRPr>
            </a:lvl5pPr>
            <a:lvl6pPr algn="l">
              <a:buNone/>
              <a:defRPr sz="900" b="1">
                <a:solidFill>
                  <a:srgbClr val="66717B"/>
                </a:solidFill>
                <a:latin typeface="Arial"/>
                <a:ea typeface="Arial"/>
                <a:cs typeface="Arial"/>
              </a:defRPr>
            </a:lvl6pPr>
            <a:lvl7pPr algn="l">
              <a:buNone/>
              <a:defRPr sz="900" b="1">
                <a:solidFill>
                  <a:srgbClr val="66717B"/>
                </a:solidFill>
                <a:latin typeface="Arial"/>
                <a:ea typeface="Arial"/>
                <a:cs typeface="Arial"/>
              </a:defRPr>
            </a:lvl7pPr>
            <a:lvl8pPr algn="l">
              <a:buNone/>
              <a:defRPr sz="900" b="1">
                <a:solidFill>
                  <a:srgbClr val="66717B"/>
                </a:solidFill>
                <a:latin typeface="Arial"/>
                <a:ea typeface="Arial"/>
                <a:cs typeface="Arial"/>
              </a:defRPr>
            </a:lvl8pPr>
            <a:lvl9pPr algn="l">
              <a:buNone/>
              <a:defRPr sz="900" b="1">
                <a:solidFill>
                  <a:srgbClr val="66717B"/>
                </a:solidFill>
                <a:latin typeface="Arial"/>
                <a:ea typeface="Arial"/>
                <a:cs typeface="Arial"/>
              </a:defRPr>
            </a:lvl9pPr>
          </a:lstStyle>
          <a:p xmlns:a="http://schemas.openxmlformats.org/drawingml/2006/main">
            <a:pPr algn="l">
              <a:lnSpc>
                <a:spcPct val="105000"/>
              </a:lnSpc>
              <a:buNone/>
              <a:defRPr sz="900" b="1">
                <a:solidFill>
                  <a:srgbClr val="66717B"/>
                </a:solidFill>
                <a:latin typeface="Arial"/>
                <a:ea typeface="Arial"/>
                <a:cs typeface="Arial"/>
              </a:defRPr>
            </a:pPr>
            <a:r>
              <a:rPr sz="900" b="1">
                <a:solidFill>
                  <a:srgbClr val="66717B"/>
                </a:solidFill>
                <a:latin typeface="Times New Roman"/>
                <a:ea typeface="Times New Roman"/>
                <a:cs typeface="Times New Roman"/>
              </a:rPr>
              <a:t>PRESENTERS</a:t>
            </a:r>
          </a:p>
        </p:txBody>
      </p:sp>
      <p:sp>
        <p:nvSpPr>
          <p:cNvPr id="12" name="矩形 11">
            <a:extLst xmlns:a="http://schemas.openxmlformats.org/drawingml/2006/main">
              <a:ext uri="{FF2B5EF4-FFF2-40B4-BE49-F238E27FC236}">
                <a16:creationId xmlns:a16="http://schemas.microsoft.com/office/drawing/2014/main" id="{35CB7284-5526-4CA3-89A6-816F5C33F4E8}"/>
              </a:ext>
            </a:extLst>
          </p:cNvPr>
          <p:cNvSpPr>
            <a:spLocks xmlns:a="http://schemas.openxmlformats.org/drawingml/2006/main" noGrp="1"/>
          </p:cNvSpPr>
          <p:nvPr/>
        </p:nvSpPr>
        <p:spPr>
          <a:xfrm xmlns:a="http://schemas.openxmlformats.org/drawingml/2006/main">
            <a:off x="590550" y="472440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Speaker A</a:t>
            </a:r>
          </a:p>
        </p:txBody>
      </p:sp>
      <p:sp>
        <p:nvSpPr>
          <p:cNvPr id="13" name="矩形 12">
            <a:extLst xmlns:a="http://schemas.openxmlformats.org/drawingml/2006/main">
              <a:ext uri="{FF2B5EF4-FFF2-40B4-BE49-F238E27FC236}">
                <a16:creationId xmlns:a16="http://schemas.microsoft.com/office/drawing/2014/main" id="{E7F29417-594E-4337-9399-68ADD8033DD9}"/>
              </a:ext>
            </a:extLst>
          </p:cNvPr>
          <p:cNvSpPr>
            <a:spLocks xmlns:a="http://schemas.openxmlformats.org/drawingml/2006/main" noGrp="1"/>
          </p:cNvSpPr>
          <p:nvPr/>
        </p:nvSpPr>
        <p:spPr>
          <a:xfrm xmlns:a="http://schemas.openxmlformats.org/drawingml/2006/main">
            <a:off x="590550" y="5067300"/>
            <a:ext cx="19621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txBody xmlns:a="http://schemas.openxmlformats.org/drawingml/2006/main">
          <a:bodyPr/>
          <a:p/>
        </p:txBody>
      </p:sp>
      <p:sp>
        <p:nvSpPr>
          <p:cNvPr id="14" name="矩形 13">
            <a:extLst xmlns:a="http://schemas.openxmlformats.org/drawingml/2006/main">
              <a:ext uri="{FF2B5EF4-FFF2-40B4-BE49-F238E27FC236}">
                <a16:creationId xmlns:a16="http://schemas.microsoft.com/office/drawing/2014/main" id="{0B9E5EC6-3417-4FDF-88E9-C1F92D4C5F7F}"/>
              </a:ext>
            </a:extLst>
          </p:cNvPr>
          <p:cNvSpPr>
            <a:spLocks xmlns:a="http://schemas.openxmlformats.org/drawingml/2006/main" noGrp="1"/>
          </p:cNvSpPr>
          <p:nvPr/>
        </p:nvSpPr>
        <p:spPr>
          <a:xfrm xmlns:a="http://schemas.openxmlformats.org/drawingml/2006/main">
            <a:off x="2914650" y="472440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Speaker B</a:t>
            </a:r>
          </a:p>
        </p:txBody>
      </p:sp>
      <p:sp>
        <p:nvSpPr>
          <p:cNvPr id="15" name="矩形 14">
            <a:extLst xmlns:a="http://schemas.openxmlformats.org/drawingml/2006/main">
              <a:ext uri="{FF2B5EF4-FFF2-40B4-BE49-F238E27FC236}">
                <a16:creationId xmlns:a16="http://schemas.microsoft.com/office/drawing/2014/main" id="{DD44C528-C24D-4648-868D-C9B448C6EF23}"/>
              </a:ext>
            </a:extLst>
          </p:cNvPr>
          <p:cNvSpPr>
            <a:spLocks xmlns:a="http://schemas.openxmlformats.org/drawingml/2006/main" noGrp="1"/>
          </p:cNvSpPr>
          <p:nvPr/>
        </p:nvSpPr>
        <p:spPr>
          <a:xfrm xmlns:a="http://schemas.openxmlformats.org/drawingml/2006/main">
            <a:off x="2914650" y="5067300"/>
            <a:ext cx="19621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txBody xmlns:a="http://schemas.openxmlformats.org/drawingml/2006/main">
          <a:bodyPr/>
          <a:p/>
        </p:txBody>
      </p:sp>
      <p:sp>
        <p:nvSpPr>
          <p:cNvPr id="24" name="矩形 23">
            <a:extLst xmlns:a="http://schemas.openxmlformats.org/drawingml/2006/main">
              <a:ext uri="{FF2B5EF4-FFF2-40B4-BE49-F238E27FC236}">
                <a16:creationId xmlns:a16="http://schemas.microsoft.com/office/drawing/2014/main" id="{0080E452-A9C2-4488-B45A-4DA03192EA39}"/>
              </a:ext>
            </a:extLst>
          </p:cNvPr>
          <p:cNvSpPr>
            <a:spLocks xmlns:a="http://schemas.openxmlformats.org/drawingml/2006/main" noGrp="1"/>
          </p:cNvSpPr>
          <p:nvPr/>
        </p:nvSpPr>
        <p:spPr>
          <a:xfrm xmlns:a="http://schemas.openxmlformats.org/drawingml/2006/main">
            <a:off x="590550" y="63436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0">
                <a:solidFill>
                  <a:srgbClr val="66717B"/>
                </a:solidFill>
                <a:latin typeface="Arial"/>
                <a:ea typeface="Arial"/>
                <a:cs typeface="Arial"/>
              </a:defRPr>
            </a:defPPr>
            <a:lvl1pPr algn="l">
              <a:buNone/>
              <a:defRPr sz="825" b="0">
                <a:solidFill>
                  <a:srgbClr val="66717B"/>
                </a:solidFill>
                <a:latin typeface="Arial"/>
                <a:ea typeface="Arial"/>
                <a:cs typeface="Arial"/>
              </a:defRPr>
            </a:lvl1pPr>
            <a:lvl2pPr algn="l">
              <a:buNone/>
              <a:defRPr sz="825" b="0">
                <a:solidFill>
                  <a:srgbClr val="66717B"/>
                </a:solidFill>
                <a:latin typeface="Arial"/>
                <a:ea typeface="Arial"/>
                <a:cs typeface="Arial"/>
              </a:defRPr>
            </a:lvl2pPr>
            <a:lvl3pPr algn="l">
              <a:buNone/>
              <a:defRPr sz="825" b="0">
                <a:solidFill>
                  <a:srgbClr val="66717B"/>
                </a:solidFill>
                <a:latin typeface="Arial"/>
                <a:ea typeface="Arial"/>
                <a:cs typeface="Arial"/>
              </a:defRPr>
            </a:lvl3pPr>
            <a:lvl4pPr algn="l">
              <a:buNone/>
              <a:defRPr sz="825" b="0">
                <a:solidFill>
                  <a:srgbClr val="66717B"/>
                </a:solidFill>
                <a:latin typeface="Arial"/>
                <a:ea typeface="Arial"/>
                <a:cs typeface="Arial"/>
              </a:defRPr>
            </a:lvl4pPr>
            <a:lvl5pPr algn="l">
              <a:buNone/>
              <a:defRPr sz="825" b="0">
                <a:solidFill>
                  <a:srgbClr val="66717B"/>
                </a:solidFill>
                <a:latin typeface="Arial"/>
                <a:ea typeface="Arial"/>
                <a:cs typeface="Arial"/>
              </a:defRPr>
            </a:lvl5pPr>
            <a:lvl6pPr algn="l">
              <a:buNone/>
              <a:defRPr sz="825" b="0">
                <a:solidFill>
                  <a:srgbClr val="66717B"/>
                </a:solidFill>
                <a:latin typeface="Arial"/>
                <a:ea typeface="Arial"/>
                <a:cs typeface="Arial"/>
              </a:defRPr>
            </a:lvl6pPr>
            <a:lvl7pPr algn="l">
              <a:buNone/>
              <a:defRPr sz="825" b="0">
                <a:solidFill>
                  <a:srgbClr val="66717B"/>
                </a:solidFill>
                <a:latin typeface="Arial"/>
                <a:ea typeface="Arial"/>
                <a:cs typeface="Arial"/>
              </a:defRPr>
            </a:lvl7pPr>
            <a:lvl8pPr algn="l">
              <a:buNone/>
              <a:defRPr sz="825" b="0">
                <a:solidFill>
                  <a:srgbClr val="66717B"/>
                </a:solidFill>
                <a:latin typeface="Arial"/>
                <a:ea typeface="Arial"/>
                <a:cs typeface="Arial"/>
              </a:defRPr>
            </a:lvl8pPr>
            <a:lvl9pPr algn="l">
              <a:buNone/>
              <a:defRPr sz="825" b="0">
                <a:solidFill>
                  <a:srgbClr val="66717B"/>
                </a:solidFill>
                <a:latin typeface="Arial"/>
                <a:ea typeface="Arial"/>
                <a:cs typeface="Arial"/>
              </a:defRPr>
            </a:lvl9pPr>
          </a:lstStyle>
          <a:p xmlns:a="http://schemas.openxmlformats.org/drawingml/2006/main">
            <a:pPr algn="l">
              <a:lnSpc>
                <a:spcPct val="105000"/>
              </a:lnSpc>
              <a:buNone/>
              <a:defRPr sz="825" b="0">
                <a:solidFill>
                  <a:srgbClr val="66717B"/>
                </a:solidFill>
                <a:latin typeface="Arial"/>
                <a:ea typeface="Arial"/>
                <a:cs typeface="Arial"/>
              </a:defRPr>
            </a:pPr>
            <a:r>
              <a:rPr sz="825" b="0">
                <a:solidFill>
                  <a:srgbClr val="66717B"/>
                </a:solidFill>
                <a:latin typeface="Times New Roman"/>
                <a:ea typeface="Times New Roman"/>
                <a:cs typeface="Times New Roman"/>
              </a:rPr>
              <a:t>Hubei University of Technology · English Presentation</a:t>
            </a:r>
          </a:p>
        </p:txBody>
      </p:sp>
      <p:pic>
        <p:nvPicPr>
          <p:cNvPr id="25" name="">
            <a:extLst xmlns:a="http://schemas.openxmlformats.org/drawingml/2006/main">
              <a:ext uri="{FF2B5EF4-FFF2-40B4-BE49-F238E27FC236}">
                <a16:creationId xmlns:a16="http://schemas.microsoft.com/office/drawing/2014/main" id="{4F534CE9-1ADC-4F06-8811-7B001F7D21C2}"/>
              </a:ext>
            </a:extLst>
          </p:cNvPr>
          <p:cNvPicPr>
            <a:picLocks xmlns:a="http://schemas.openxmlformats.org/drawingml/2006/main" noChangeAspect="1"/>
          </p:cNvPicPr>
          <p:nvPr/>
        </p:nvPicPr>
        <p:blipFill>
          <a:blip xmlns:r="http://schemas.openxmlformats.org/officeDocument/2006/relationships" xmlns:a="http://schemas.openxmlformats.org/drawingml/2006/main" r:embed="R917e931bfda646a5"/>
          <a:srcRect xmlns:a="http://schemas.openxmlformats.org/drawingml/2006/main" l="29915" t="0" r="29915" b="0"/>
          <a:stretch xmlns:a="http://schemas.openxmlformats.org/drawingml/2006/main">
            <a:fillRect l="0" t="0" r="0" b="0"/>
          </a:stretch>
        </p:blipFill>
        <p:spPr>
          <a:xfrm xmlns:a="http://schemas.openxmlformats.org/drawingml/2006/main">
            <a:off x="8058150" y="0"/>
            <a:ext cx="4133850" cy="6858000"/>
          </a:xfrm>
          <a:prstGeom xmlns:a="http://schemas.openxmlformats.org/drawingml/2006/main" prst="rect">
            <a:avLst/>
          </a:prstGeom>
        </p:spPr>
      </p:pic>
    </p:spTree>
    <p:extLst>
      <p:ext uri="{BB962C8B-B14F-4D97-AF65-F5344CB8AC3E}">
        <p14:creationId xmlns:p14="http://schemas.microsoft.com/office/powerpoint/2010/main" val="982263441"/>
      </p:ext>
    </p:extLst>
  </p:cSld>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7"/>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94360" y="237744"/>
            <a:ext cx="9144000" cy="228600"/>
          </a:xfrm>
          <a:prstGeom prst="rect">
            <a:avLst/>
          </a:prstGeom>
          <a:noFill/>
        </p:spPr>
        <p:txBody>
          <a:bodyPr wrap="square" lIns="0" rIns="0" tIns="0" bIns="0">
            <a:spAutoFit/>
          </a:bodyPr>
          <a:lstStyle/>
          <a:p>
            <a:pPr>
              <a:spcAft>
                <a:spcPts val="500"/>
              </a:spcAft>
              <a:defRPr sz="1100" b="1">
                <a:solidFill>
                  <a:srgbClr val="2878A5"/>
                </a:solidFill>
                <a:latin typeface="Times New Roman"/>
              </a:defRPr>
            </a:pPr>
            <a:r>
              <a:t>UNIT 3  /  THE DISEASE</a:t>
            </a:r>
          </a:p>
        </p:txBody>
      </p:sp>
      <p:sp>
        <p:nvSpPr>
          <p:cNvPr id="5" name="TextBox 4"/>
          <p:cNvSpPr txBox="1"/>
          <p:nvPr/>
        </p:nvSpPr>
        <p:spPr>
          <a:xfrm>
            <a:off x="594360" y="594360"/>
            <a:ext cx="10972800"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What is plague? How does it spread?</a:t>
            </a:r>
          </a:p>
        </p:txBody>
      </p:sp>
      <p:sp>
        <p:nvSpPr>
          <p:cNvPr id="6" name="Rectangle 5"/>
          <p:cNvSpPr/>
          <p:nvPr/>
        </p:nvSpPr>
        <p:spPr>
          <a:xfrm>
            <a:off x="594360" y="1280160"/>
            <a:ext cx="11000232" cy="16459"/>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73952"/>
            <a:ext cx="10058400" cy="201168"/>
          </a:xfrm>
          <a:prstGeom prst="rect">
            <a:avLst/>
          </a:prstGeom>
          <a:noFill/>
        </p:spPr>
        <p:txBody>
          <a:bodyPr wrap="square" lIns="0" rIns="0" tIns="0" bIns="0">
            <a:spAutoFit/>
          </a:bodyPr>
          <a:lstStyle/>
          <a:p>
            <a:pPr>
              <a:spcAft>
                <a:spcPts val="500"/>
              </a:spcAft>
              <a:defRPr sz="900" b="0">
                <a:solidFill>
                  <a:srgbClr val="66717B"/>
                </a:solidFill>
                <a:latin typeface="Times New Roman"/>
              </a:defRPr>
            </a:pPr>
            <a:r>
              <a:t>Sources: WHO — Plague; CDC — About Plague. Full links in notes.</a:t>
            </a:r>
          </a:p>
        </p:txBody>
      </p:sp>
      <p:sp>
        <p:nvSpPr>
          <p:cNvPr id="8" name="TextBox 7"/>
          <p:cNvSpPr txBox="1"/>
          <p:nvPr/>
        </p:nvSpPr>
        <p:spPr>
          <a:xfrm>
            <a:off x="10972800" y="6473952"/>
            <a:ext cx="640080" cy="201168"/>
          </a:xfrm>
          <a:prstGeom prst="rect">
            <a:avLst/>
          </a:prstGeom>
          <a:noFill/>
        </p:spPr>
        <p:txBody>
          <a:bodyPr wrap="square" lIns="0" rIns="0" tIns="0" bIns="0">
            <a:spAutoFit/>
          </a:bodyPr>
          <a:lstStyle/>
          <a:p>
            <a:pPr>
              <a:spcAft>
                <a:spcPts val="500"/>
              </a:spcAft>
              <a:defRPr sz="1000" b="0">
                <a:solidFill>
                  <a:srgbClr val="66717B"/>
                </a:solidFill>
                <a:latin typeface="Times New Roman"/>
              </a:defRPr>
            </a:pPr>
            <a:r>
              <a:t>2 / 5</a:t>
            </a:r>
          </a:p>
        </p:txBody>
      </p:sp>
      <p:sp>
        <p:nvSpPr>
          <p:cNvPr id="9" name="TextBox 8"/>
          <p:cNvSpPr txBox="1"/>
          <p:nvPr/>
        </p:nvSpPr>
        <p:spPr>
          <a:xfrm>
            <a:off x="594360" y="1600200"/>
            <a:ext cx="10789920" cy="457200"/>
          </a:xfrm>
          <a:prstGeom prst="rect">
            <a:avLst/>
          </a:prstGeom>
          <a:noFill/>
        </p:spPr>
        <p:txBody>
          <a:bodyPr wrap="square" lIns="0" rIns="0" tIns="0" bIns="0">
            <a:spAutoFit/>
          </a:bodyPr>
          <a:lstStyle/>
          <a:p>
            <a:pPr>
              <a:spcAft>
                <a:spcPts val="500"/>
              </a:spcAft>
              <a:defRPr sz="2700" b="1">
                <a:solidFill>
                  <a:srgbClr val="153A5B"/>
                </a:solidFill>
                <a:latin typeface="Times New Roman"/>
              </a:defRPr>
            </a:pPr>
            <a:r>
              <a:t>Caused by bacteria: Yersinia pestis</a:t>
            </a:r>
          </a:p>
        </p:txBody>
      </p:sp>
      <p:sp>
        <p:nvSpPr>
          <p:cNvPr id="10" name="TextBox 9"/>
          <p:cNvSpPr txBox="1"/>
          <p:nvPr/>
        </p:nvSpPr>
        <p:spPr>
          <a:xfrm>
            <a:off x="594360" y="2148840"/>
            <a:ext cx="10789920" cy="41148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Not a virus. A disease shared by animals and people.</a:t>
            </a:r>
          </a:p>
        </p:txBody>
      </p:sp>
      <p:sp>
        <p:nvSpPr>
          <p:cNvPr id="11" name="Rectangle 10"/>
          <p:cNvSpPr/>
          <p:nvPr/>
        </p:nvSpPr>
        <p:spPr>
          <a:xfrm>
            <a:off x="594360" y="2880360"/>
            <a:ext cx="3410712" cy="1325880"/>
          </a:xfrm>
          <a:prstGeom prst="rect">
            <a:avLst/>
          </a:prstGeom>
          <a:solidFill>
            <a:srgbClr val="E5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154680"/>
            <a:ext cx="2990088" cy="365760"/>
          </a:xfrm>
          <a:prstGeom prst="rect">
            <a:avLst/>
          </a:prstGeom>
          <a:noFill/>
        </p:spPr>
        <p:txBody>
          <a:bodyPr wrap="square" lIns="0" rIns="0" tIns="0" bIns="0">
            <a:spAutoFit/>
          </a:bodyPr>
          <a:lstStyle/>
          <a:p>
            <a:pPr>
              <a:spcAft>
                <a:spcPts val="500"/>
              </a:spcAft>
              <a:defRPr sz="2200" b="1">
                <a:solidFill>
                  <a:srgbClr val="153A5B"/>
                </a:solidFill>
                <a:latin typeface="Times New Roman"/>
              </a:defRPr>
            </a:pPr>
            <a:r>
              <a:t>INFECTED ANIMAL</a:t>
            </a:r>
          </a:p>
        </p:txBody>
      </p:sp>
      <p:sp>
        <p:nvSpPr>
          <p:cNvPr id="13" name="TextBox 12"/>
          <p:cNvSpPr txBox="1"/>
          <p:nvPr/>
        </p:nvSpPr>
        <p:spPr>
          <a:xfrm>
            <a:off x="804672" y="3685032"/>
            <a:ext cx="2990088" cy="365760"/>
          </a:xfrm>
          <a:prstGeom prst="rect">
            <a:avLst/>
          </a:prstGeom>
          <a:noFill/>
        </p:spPr>
        <p:txBody>
          <a:bodyPr wrap="square" lIns="0" rIns="0" tIns="0" bIns="0">
            <a:spAutoFit/>
          </a:bodyPr>
          <a:lstStyle/>
          <a:p>
            <a:pPr>
              <a:spcAft>
                <a:spcPts val="500"/>
              </a:spcAft>
              <a:defRPr sz="1900" b="0">
                <a:solidFill>
                  <a:srgbClr val="24282C"/>
                </a:solidFill>
                <a:latin typeface="Times New Roman"/>
              </a:defRPr>
            </a:pPr>
            <a:r>
              <a:t>A source of bacteria</a:t>
            </a:r>
          </a:p>
        </p:txBody>
      </p:sp>
      <p:sp>
        <p:nvSpPr>
          <p:cNvPr id="14" name="Rectangle 13"/>
          <p:cNvSpPr/>
          <p:nvPr/>
        </p:nvSpPr>
        <p:spPr>
          <a:xfrm>
            <a:off x="4389120" y="2880360"/>
            <a:ext cx="3410712" cy="1325880"/>
          </a:xfrm>
          <a:prstGeom prst="rect">
            <a:avLst/>
          </a:prstGeom>
          <a:solidFill>
            <a:srgbClr val="E5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3154680"/>
            <a:ext cx="2990088" cy="365760"/>
          </a:xfrm>
          <a:prstGeom prst="rect">
            <a:avLst/>
          </a:prstGeom>
          <a:noFill/>
        </p:spPr>
        <p:txBody>
          <a:bodyPr wrap="square" lIns="0" rIns="0" tIns="0" bIns="0">
            <a:spAutoFit/>
          </a:bodyPr>
          <a:lstStyle/>
          <a:p>
            <a:pPr>
              <a:spcAft>
                <a:spcPts val="500"/>
              </a:spcAft>
              <a:defRPr sz="2200" b="1">
                <a:solidFill>
                  <a:srgbClr val="153A5B"/>
                </a:solidFill>
                <a:latin typeface="Times New Roman"/>
              </a:defRPr>
            </a:pPr>
            <a:r>
              <a:t>INFECTED FLEA</a:t>
            </a:r>
          </a:p>
        </p:txBody>
      </p:sp>
      <p:sp>
        <p:nvSpPr>
          <p:cNvPr id="16" name="TextBox 15"/>
          <p:cNvSpPr txBox="1"/>
          <p:nvPr/>
        </p:nvSpPr>
        <p:spPr>
          <a:xfrm>
            <a:off x="4599432" y="3685032"/>
            <a:ext cx="2990088" cy="365760"/>
          </a:xfrm>
          <a:prstGeom prst="rect">
            <a:avLst/>
          </a:prstGeom>
          <a:noFill/>
        </p:spPr>
        <p:txBody>
          <a:bodyPr wrap="square" lIns="0" rIns="0" tIns="0" bIns="0">
            <a:spAutoFit/>
          </a:bodyPr>
          <a:lstStyle/>
          <a:p>
            <a:pPr>
              <a:spcAft>
                <a:spcPts val="500"/>
              </a:spcAft>
              <a:defRPr sz="1900" b="0">
                <a:solidFill>
                  <a:srgbClr val="24282C"/>
                </a:solidFill>
                <a:latin typeface="Times New Roman"/>
              </a:defRPr>
            </a:pPr>
            <a:r>
              <a:t>Carries the bacteria</a:t>
            </a:r>
          </a:p>
        </p:txBody>
      </p:sp>
      <p:sp>
        <p:nvSpPr>
          <p:cNvPr id="17" name="Rectangle 16"/>
          <p:cNvSpPr/>
          <p:nvPr/>
        </p:nvSpPr>
        <p:spPr>
          <a:xfrm>
            <a:off x="8183879" y="2880360"/>
            <a:ext cx="3410712" cy="1325880"/>
          </a:xfrm>
          <a:prstGeom prst="rect">
            <a:avLst/>
          </a:prstGeom>
          <a:solidFill>
            <a:srgbClr val="E5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3154680"/>
            <a:ext cx="2990088" cy="365760"/>
          </a:xfrm>
          <a:prstGeom prst="rect">
            <a:avLst/>
          </a:prstGeom>
          <a:noFill/>
        </p:spPr>
        <p:txBody>
          <a:bodyPr wrap="square" lIns="0" rIns="0" tIns="0" bIns="0">
            <a:spAutoFit/>
          </a:bodyPr>
          <a:lstStyle/>
          <a:p>
            <a:pPr>
              <a:spcAft>
                <a:spcPts val="500"/>
              </a:spcAft>
              <a:defRPr sz="2200" b="1">
                <a:solidFill>
                  <a:srgbClr val="153A5B"/>
                </a:solidFill>
                <a:latin typeface="Times New Roman"/>
              </a:defRPr>
            </a:pPr>
            <a:r>
              <a:t>PERSON</a:t>
            </a:r>
          </a:p>
        </p:txBody>
      </p:sp>
      <p:sp>
        <p:nvSpPr>
          <p:cNvPr id="19" name="TextBox 18"/>
          <p:cNvSpPr txBox="1"/>
          <p:nvPr/>
        </p:nvSpPr>
        <p:spPr>
          <a:xfrm>
            <a:off x="8394192" y="3685032"/>
            <a:ext cx="2990088" cy="365760"/>
          </a:xfrm>
          <a:prstGeom prst="rect">
            <a:avLst/>
          </a:prstGeom>
          <a:noFill/>
        </p:spPr>
        <p:txBody>
          <a:bodyPr wrap="square" lIns="0" rIns="0" tIns="0" bIns="0">
            <a:spAutoFit/>
          </a:bodyPr>
          <a:lstStyle/>
          <a:p>
            <a:pPr>
              <a:spcAft>
                <a:spcPts val="500"/>
              </a:spcAft>
              <a:defRPr sz="1900" b="0">
                <a:solidFill>
                  <a:srgbClr val="24282C"/>
                </a:solidFill>
                <a:latin typeface="Times New Roman"/>
              </a:defRPr>
            </a:pPr>
            <a:r>
              <a:t>Infected by a flea bite</a:t>
            </a:r>
          </a:p>
        </p:txBody>
      </p:sp>
      <p:sp>
        <p:nvSpPr>
          <p:cNvPr id="20" name="TextBox 19"/>
          <p:cNvSpPr txBox="1"/>
          <p:nvPr/>
        </p:nvSpPr>
        <p:spPr>
          <a:xfrm>
            <a:off x="4023360" y="3291840"/>
            <a:ext cx="365760" cy="457200"/>
          </a:xfrm>
          <a:prstGeom prst="rect">
            <a:avLst/>
          </a:prstGeom>
          <a:noFill/>
        </p:spPr>
        <p:txBody>
          <a:bodyPr wrap="square" lIns="0" rIns="0" tIns="0" bIns="0">
            <a:spAutoFit/>
          </a:bodyPr>
          <a:lstStyle/>
          <a:p>
            <a:pPr>
              <a:spcAft>
                <a:spcPts val="500"/>
              </a:spcAft>
              <a:defRPr sz="2700" b="0">
                <a:solidFill>
                  <a:srgbClr val="2878A5"/>
                </a:solidFill>
                <a:latin typeface="Times New Roman"/>
              </a:defRPr>
            </a:pPr>
            <a:r>
              <a:t>→</a:t>
            </a:r>
          </a:p>
        </p:txBody>
      </p:sp>
      <p:sp>
        <p:nvSpPr>
          <p:cNvPr id="21" name="TextBox 20"/>
          <p:cNvSpPr txBox="1"/>
          <p:nvPr/>
        </p:nvSpPr>
        <p:spPr>
          <a:xfrm>
            <a:off x="7818120" y="3291840"/>
            <a:ext cx="365760" cy="457200"/>
          </a:xfrm>
          <a:prstGeom prst="rect">
            <a:avLst/>
          </a:prstGeom>
          <a:noFill/>
        </p:spPr>
        <p:txBody>
          <a:bodyPr wrap="square" lIns="0" rIns="0" tIns="0" bIns="0">
            <a:spAutoFit/>
          </a:bodyPr>
          <a:lstStyle/>
          <a:p>
            <a:pPr>
              <a:spcAft>
                <a:spcPts val="500"/>
              </a:spcAft>
              <a:defRPr sz="2700" b="0">
                <a:solidFill>
                  <a:srgbClr val="2878A5"/>
                </a:solidFill>
                <a:latin typeface="Times New Roman"/>
              </a:defRPr>
            </a:pPr>
            <a:r>
              <a:t>→</a:t>
            </a:r>
          </a:p>
        </p:txBody>
      </p:sp>
      <p:sp>
        <p:nvSpPr>
          <p:cNvPr id="22" name="TextBox 21"/>
          <p:cNvSpPr txBox="1"/>
          <p:nvPr/>
        </p:nvSpPr>
        <p:spPr>
          <a:xfrm>
            <a:off x="594360" y="4663440"/>
            <a:ext cx="2377440" cy="320040"/>
          </a:xfrm>
          <a:prstGeom prst="rect">
            <a:avLst/>
          </a:prstGeom>
          <a:noFill/>
        </p:spPr>
        <p:txBody>
          <a:bodyPr wrap="square" lIns="0" rIns="0" tIns="0" bIns="0">
            <a:spAutoFit/>
          </a:bodyPr>
          <a:lstStyle/>
          <a:p>
            <a:pPr>
              <a:spcAft>
                <a:spcPts val="500"/>
              </a:spcAft>
              <a:defRPr sz="1400" b="1">
                <a:solidFill>
                  <a:srgbClr val="2878A5"/>
                </a:solidFill>
                <a:latin typeface="Times New Roman"/>
              </a:defRPr>
            </a:pPr>
            <a:r>
              <a:t>OTHER ROUTES</a:t>
            </a:r>
          </a:p>
        </p:txBody>
      </p:sp>
      <p:sp>
        <p:nvSpPr>
          <p:cNvPr id="23" name="TextBox 22"/>
          <p:cNvSpPr txBox="1"/>
          <p:nvPr/>
        </p:nvSpPr>
        <p:spPr>
          <a:xfrm>
            <a:off x="594360" y="5193792"/>
            <a:ext cx="4937760" cy="82296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Contact with infected</a:t>
            </a:r>
          </a:p>
          <a:p>
            <a:pPr>
              <a:spcAft>
                <a:spcPts val="500"/>
              </a:spcAft>
              <a:defRPr sz="2300" b="0">
                <a:solidFill>
                  <a:srgbClr val="24282C"/>
                </a:solidFill>
                <a:latin typeface="Times New Roman"/>
              </a:defRPr>
            </a:pPr>
            <a:r>
              <a:t>animal tissues or fluids</a:t>
            </a:r>
          </a:p>
        </p:txBody>
      </p:sp>
      <p:sp>
        <p:nvSpPr>
          <p:cNvPr id="24" name="TextBox 23"/>
          <p:cNvSpPr txBox="1"/>
          <p:nvPr/>
        </p:nvSpPr>
        <p:spPr>
          <a:xfrm>
            <a:off x="5943600" y="5193792"/>
            <a:ext cx="5577840" cy="82296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Pneumonic plague: cough droplets</a:t>
            </a:r>
          </a:p>
          <a:p>
            <a:pPr>
              <a:spcAft>
                <a:spcPts val="500"/>
              </a:spcAft>
              <a:defRPr sz="2300" b="0">
                <a:solidFill>
                  <a:srgbClr val="24282C"/>
                </a:solidFill>
                <a:latin typeface="Times New Roman"/>
              </a:defRPr>
            </a:pPr>
            <a:r>
              <a:t>during close contact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7"/>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94360" y="237744"/>
            <a:ext cx="9144000" cy="228600"/>
          </a:xfrm>
          <a:prstGeom prst="rect">
            <a:avLst/>
          </a:prstGeom>
          <a:noFill/>
        </p:spPr>
        <p:txBody>
          <a:bodyPr wrap="square" lIns="0" rIns="0" tIns="0" bIns="0">
            <a:spAutoFit/>
          </a:bodyPr>
          <a:lstStyle/>
          <a:p>
            <a:pPr>
              <a:spcAft>
                <a:spcPts val="500"/>
              </a:spcAft>
              <a:defRPr sz="1100" b="1">
                <a:solidFill>
                  <a:srgbClr val="2878A5"/>
                </a:solidFill>
                <a:latin typeface="Times New Roman"/>
              </a:defRPr>
            </a:pPr>
            <a:r>
              <a:t>UNIT 3  /  TYPES &amp; SYMPTOMS</a:t>
            </a:r>
          </a:p>
        </p:txBody>
      </p:sp>
      <p:sp>
        <p:nvSpPr>
          <p:cNvPr id="5" name="TextBox 4"/>
          <p:cNvSpPr txBox="1"/>
          <p:nvPr/>
        </p:nvSpPr>
        <p:spPr>
          <a:xfrm>
            <a:off x="594360" y="594360"/>
            <a:ext cx="10972800"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Three main forms of plague</a:t>
            </a:r>
          </a:p>
        </p:txBody>
      </p:sp>
      <p:sp>
        <p:nvSpPr>
          <p:cNvPr id="6" name="Rectangle 5"/>
          <p:cNvSpPr/>
          <p:nvPr/>
        </p:nvSpPr>
        <p:spPr>
          <a:xfrm>
            <a:off x="594360" y="1280160"/>
            <a:ext cx="11000232" cy="16459"/>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73952"/>
            <a:ext cx="10058400" cy="201168"/>
          </a:xfrm>
          <a:prstGeom prst="rect">
            <a:avLst/>
          </a:prstGeom>
          <a:noFill/>
        </p:spPr>
        <p:txBody>
          <a:bodyPr wrap="square" lIns="0" rIns="0" tIns="0" bIns="0">
            <a:spAutoFit/>
          </a:bodyPr>
          <a:lstStyle/>
          <a:p>
            <a:pPr>
              <a:spcAft>
                <a:spcPts val="500"/>
              </a:spcAft>
              <a:defRPr sz="900" b="0">
                <a:solidFill>
                  <a:srgbClr val="66717B"/>
                </a:solidFill>
                <a:latin typeface="Times New Roman"/>
              </a:defRPr>
            </a:pPr>
            <a:r>
              <a:t>Source: CDC — Signs and Symptoms of Plague. Full link in notes.</a:t>
            </a:r>
          </a:p>
        </p:txBody>
      </p:sp>
      <p:sp>
        <p:nvSpPr>
          <p:cNvPr id="8" name="TextBox 7"/>
          <p:cNvSpPr txBox="1"/>
          <p:nvPr/>
        </p:nvSpPr>
        <p:spPr>
          <a:xfrm>
            <a:off x="10972800" y="6473952"/>
            <a:ext cx="640080" cy="201168"/>
          </a:xfrm>
          <a:prstGeom prst="rect">
            <a:avLst/>
          </a:prstGeom>
          <a:noFill/>
        </p:spPr>
        <p:txBody>
          <a:bodyPr wrap="square" lIns="0" rIns="0" tIns="0" bIns="0">
            <a:spAutoFit/>
          </a:bodyPr>
          <a:lstStyle/>
          <a:p>
            <a:pPr>
              <a:spcAft>
                <a:spcPts val="500"/>
              </a:spcAft>
              <a:defRPr sz="1000" b="0">
                <a:solidFill>
                  <a:srgbClr val="66717B"/>
                </a:solidFill>
                <a:latin typeface="Times New Roman"/>
              </a:defRPr>
            </a:pPr>
            <a:r>
              <a:t>3 / 5</a:t>
            </a:r>
          </a:p>
        </p:txBody>
      </p:sp>
      <p:sp>
        <p:nvSpPr>
          <p:cNvPr id="9" name="TextBox 8"/>
          <p:cNvSpPr txBox="1"/>
          <p:nvPr/>
        </p:nvSpPr>
        <p:spPr>
          <a:xfrm>
            <a:off x="594360" y="1600200"/>
            <a:ext cx="10058400" cy="411480"/>
          </a:xfrm>
          <a:prstGeom prst="rect">
            <a:avLst/>
          </a:prstGeom>
          <a:noFill/>
        </p:spPr>
        <p:txBody>
          <a:bodyPr wrap="square" lIns="0" rIns="0" tIns="0" bIns="0">
            <a:spAutoFit/>
          </a:bodyPr>
          <a:lstStyle/>
          <a:p>
            <a:pPr>
              <a:spcAft>
                <a:spcPts val="500"/>
              </a:spcAft>
              <a:defRPr sz="2400" b="0">
                <a:solidFill>
                  <a:srgbClr val="24282C"/>
                </a:solidFill>
                <a:latin typeface="Times New Roman"/>
              </a:defRPr>
            </a:pPr>
            <a:r>
              <a:t>The same bacterium. Different parts of the body.</a:t>
            </a:r>
          </a:p>
        </p:txBody>
      </p:sp>
      <p:sp>
        <p:nvSpPr>
          <p:cNvPr id="10" name="TextBox 9"/>
          <p:cNvSpPr txBox="1"/>
          <p:nvPr/>
        </p:nvSpPr>
        <p:spPr>
          <a:xfrm>
            <a:off x="594360" y="2331720"/>
            <a:ext cx="548640" cy="411480"/>
          </a:xfrm>
          <a:prstGeom prst="rect">
            <a:avLst/>
          </a:prstGeom>
          <a:noFill/>
        </p:spPr>
        <p:txBody>
          <a:bodyPr wrap="square" lIns="0" rIns="0" tIns="0" bIns="0">
            <a:spAutoFit/>
          </a:bodyPr>
          <a:lstStyle/>
          <a:p>
            <a:pPr>
              <a:spcAft>
                <a:spcPts val="500"/>
              </a:spcAft>
              <a:defRPr sz="2500" b="1">
                <a:solidFill>
                  <a:srgbClr val="2878A5"/>
                </a:solidFill>
                <a:latin typeface="Times New Roman"/>
              </a:defRPr>
            </a:pPr>
            <a:r>
              <a:t>01</a:t>
            </a:r>
          </a:p>
        </p:txBody>
      </p:sp>
      <p:sp>
        <p:nvSpPr>
          <p:cNvPr id="11" name="TextBox 10"/>
          <p:cNvSpPr txBox="1"/>
          <p:nvPr/>
        </p:nvSpPr>
        <p:spPr>
          <a:xfrm>
            <a:off x="1325880" y="2331720"/>
            <a:ext cx="2057400" cy="411480"/>
          </a:xfrm>
          <a:prstGeom prst="rect">
            <a:avLst/>
          </a:prstGeom>
          <a:noFill/>
        </p:spPr>
        <p:txBody>
          <a:bodyPr wrap="square" lIns="0" rIns="0" tIns="0" bIns="0">
            <a:spAutoFit/>
          </a:bodyPr>
          <a:lstStyle/>
          <a:p>
            <a:pPr>
              <a:spcAft>
                <a:spcPts val="500"/>
              </a:spcAft>
              <a:defRPr sz="2500" b="1">
                <a:solidFill>
                  <a:srgbClr val="153A5B"/>
                </a:solidFill>
                <a:latin typeface="Times New Roman"/>
              </a:defRPr>
            </a:pPr>
            <a:r>
              <a:t>Bubonic</a:t>
            </a:r>
          </a:p>
        </p:txBody>
      </p:sp>
      <p:sp>
        <p:nvSpPr>
          <p:cNvPr id="12" name="TextBox 11"/>
          <p:cNvSpPr txBox="1"/>
          <p:nvPr/>
        </p:nvSpPr>
        <p:spPr>
          <a:xfrm>
            <a:off x="3566160" y="2350008"/>
            <a:ext cx="2103120" cy="320040"/>
          </a:xfrm>
          <a:prstGeom prst="rect">
            <a:avLst/>
          </a:prstGeom>
          <a:noFill/>
        </p:spPr>
        <p:txBody>
          <a:bodyPr wrap="square" lIns="0" rIns="0" tIns="0" bIns="0">
            <a:spAutoFit/>
          </a:bodyPr>
          <a:lstStyle/>
          <a:p>
            <a:pPr>
              <a:spcAft>
                <a:spcPts val="500"/>
              </a:spcAft>
              <a:defRPr sz="1600" b="1">
                <a:solidFill>
                  <a:srgbClr val="2878A5"/>
                </a:solidFill>
                <a:latin typeface="Times New Roman"/>
              </a:defRPr>
            </a:pPr>
            <a:r>
              <a:t>LYMPH NODES</a:t>
            </a:r>
          </a:p>
        </p:txBody>
      </p:sp>
      <p:sp>
        <p:nvSpPr>
          <p:cNvPr id="13" name="TextBox 12"/>
          <p:cNvSpPr txBox="1"/>
          <p:nvPr/>
        </p:nvSpPr>
        <p:spPr>
          <a:xfrm>
            <a:off x="5623560" y="2331720"/>
            <a:ext cx="5669280" cy="713232"/>
          </a:xfrm>
          <a:prstGeom prst="rect">
            <a:avLst/>
          </a:prstGeom>
          <a:noFill/>
        </p:spPr>
        <p:txBody>
          <a:bodyPr wrap="square" lIns="0" rIns="0" tIns="0" bIns="0">
            <a:spAutoFit/>
          </a:bodyPr>
          <a:lstStyle/>
          <a:p>
            <a:pPr>
              <a:spcAft>
                <a:spcPts val="500"/>
              </a:spcAft>
              <a:defRPr sz="2100" b="0">
                <a:solidFill>
                  <a:srgbClr val="24282C"/>
                </a:solidFill>
                <a:latin typeface="Times New Roman"/>
              </a:defRPr>
            </a:pPr>
            <a:r>
              <a:t>Swollen, painful nodes; the most common form</a:t>
            </a:r>
          </a:p>
        </p:txBody>
      </p:sp>
      <p:sp>
        <p:nvSpPr>
          <p:cNvPr id="14" name="Rectangle 13"/>
          <p:cNvSpPr/>
          <p:nvPr/>
        </p:nvSpPr>
        <p:spPr>
          <a:xfrm>
            <a:off x="1325880" y="3136391"/>
            <a:ext cx="10149840" cy="10972"/>
          </a:xfrm>
          <a:prstGeom prst="rect">
            <a:avLst/>
          </a:prstGeom>
          <a:solidFill>
            <a:srgbClr val="D2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328416"/>
            <a:ext cx="548640" cy="411480"/>
          </a:xfrm>
          <a:prstGeom prst="rect">
            <a:avLst/>
          </a:prstGeom>
          <a:noFill/>
        </p:spPr>
        <p:txBody>
          <a:bodyPr wrap="square" lIns="0" rIns="0" tIns="0" bIns="0">
            <a:spAutoFit/>
          </a:bodyPr>
          <a:lstStyle/>
          <a:p>
            <a:pPr>
              <a:spcAft>
                <a:spcPts val="500"/>
              </a:spcAft>
              <a:defRPr sz="2500" b="1">
                <a:solidFill>
                  <a:srgbClr val="2878A5"/>
                </a:solidFill>
                <a:latin typeface="Times New Roman"/>
              </a:defRPr>
            </a:pPr>
            <a:r>
              <a:t>02</a:t>
            </a:r>
          </a:p>
        </p:txBody>
      </p:sp>
      <p:sp>
        <p:nvSpPr>
          <p:cNvPr id="16" name="TextBox 15"/>
          <p:cNvSpPr txBox="1"/>
          <p:nvPr/>
        </p:nvSpPr>
        <p:spPr>
          <a:xfrm>
            <a:off x="1325880" y="3328416"/>
            <a:ext cx="2057400" cy="411480"/>
          </a:xfrm>
          <a:prstGeom prst="rect">
            <a:avLst/>
          </a:prstGeom>
          <a:noFill/>
        </p:spPr>
        <p:txBody>
          <a:bodyPr wrap="square" lIns="0" rIns="0" tIns="0" bIns="0">
            <a:spAutoFit/>
          </a:bodyPr>
          <a:lstStyle/>
          <a:p>
            <a:pPr>
              <a:spcAft>
                <a:spcPts val="500"/>
              </a:spcAft>
              <a:defRPr sz="2500" b="1">
                <a:solidFill>
                  <a:srgbClr val="153A5B"/>
                </a:solidFill>
                <a:latin typeface="Times New Roman"/>
              </a:defRPr>
            </a:pPr>
            <a:r>
              <a:t>Septicemic</a:t>
            </a:r>
          </a:p>
        </p:txBody>
      </p:sp>
      <p:sp>
        <p:nvSpPr>
          <p:cNvPr id="17" name="TextBox 16"/>
          <p:cNvSpPr txBox="1"/>
          <p:nvPr/>
        </p:nvSpPr>
        <p:spPr>
          <a:xfrm>
            <a:off x="3566160" y="3346704"/>
            <a:ext cx="2103120" cy="320040"/>
          </a:xfrm>
          <a:prstGeom prst="rect">
            <a:avLst/>
          </a:prstGeom>
          <a:noFill/>
        </p:spPr>
        <p:txBody>
          <a:bodyPr wrap="square" lIns="0" rIns="0" tIns="0" bIns="0">
            <a:spAutoFit/>
          </a:bodyPr>
          <a:lstStyle/>
          <a:p>
            <a:pPr>
              <a:spcAft>
                <a:spcPts val="500"/>
              </a:spcAft>
              <a:defRPr sz="1600" b="1">
                <a:solidFill>
                  <a:srgbClr val="2878A5"/>
                </a:solidFill>
                <a:latin typeface="Times New Roman"/>
              </a:defRPr>
            </a:pPr>
            <a:r>
              <a:t>BLOOD</a:t>
            </a:r>
          </a:p>
        </p:txBody>
      </p:sp>
      <p:sp>
        <p:nvSpPr>
          <p:cNvPr id="18" name="TextBox 17"/>
          <p:cNvSpPr txBox="1"/>
          <p:nvPr/>
        </p:nvSpPr>
        <p:spPr>
          <a:xfrm>
            <a:off x="5623560" y="3328416"/>
            <a:ext cx="5669280" cy="713232"/>
          </a:xfrm>
          <a:prstGeom prst="rect">
            <a:avLst/>
          </a:prstGeom>
          <a:noFill/>
        </p:spPr>
        <p:txBody>
          <a:bodyPr wrap="square" lIns="0" rIns="0" tIns="0" bIns="0">
            <a:spAutoFit/>
          </a:bodyPr>
          <a:lstStyle/>
          <a:p>
            <a:pPr>
              <a:spcAft>
                <a:spcPts val="500"/>
              </a:spcAft>
              <a:defRPr sz="2100" b="0">
                <a:solidFill>
                  <a:srgbClr val="24282C"/>
                </a:solidFill>
                <a:latin typeface="Times New Roman"/>
              </a:defRPr>
            </a:pPr>
            <a:r>
              <a:t>Serious bleeding and shock</a:t>
            </a:r>
          </a:p>
        </p:txBody>
      </p:sp>
      <p:sp>
        <p:nvSpPr>
          <p:cNvPr id="19" name="Rectangle 18"/>
          <p:cNvSpPr/>
          <p:nvPr/>
        </p:nvSpPr>
        <p:spPr>
          <a:xfrm>
            <a:off x="1325880" y="4133088"/>
            <a:ext cx="10149840" cy="10972"/>
          </a:xfrm>
          <a:prstGeom prst="rect">
            <a:avLst/>
          </a:prstGeom>
          <a:solidFill>
            <a:srgbClr val="D2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325112"/>
            <a:ext cx="548640" cy="411480"/>
          </a:xfrm>
          <a:prstGeom prst="rect">
            <a:avLst/>
          </a:prstGeom>
          <a:noFill/>
        </p:spPr>
        <p:txBody>
          <a:bodyPr wrap="square" lIns="0" rIns="0" tIns="0" bIns="0">
            <a:spAutoFit/>
          </a:bodyPr>
          <a:lstStyle/>
          <a:p>
            <a:pPr>
              <a:spcAft>
                <a:spcPts val="500"/>
              </a:spcAft>
              <a:defRPr sz="2500" b="1">
                <a:solidFill>
                  <a:srgbClr val="2878A5"/>
                </a:solidFill>
                <a:latin typeface="Times New Roman"/>
              </a:defRPr>
            </a:pPr>
            <a:r>
              <a:t>03</a:t>
            </a:r>
          </a:p>
        </p:txBody>
      </p:sp>
      <p:sp>
        <p:nvSpPr>
          <p:cNvPr id="21" name="TextBox 20"/>
          <p:cNvSpPr txBox="1"/>
          <p:nvPr/>
        </p:nvSpPr>
        <p:spPr>
          <a:xfrm>
            <a:off x="1325880" y="4325112"/>
            <a:ext cx="2057400" cy="411480"/>
          </a:xfrm>
          <a:prstGeom prst="rect">
            <a:avLst/>
          </a:prstGeom>
          <a:noFill/>
        </p:spPr>
        <p:txBody>
          <a:bodyPr wrap="square" lIns="0" rIns="0" tIns="0" bIns="0">
            <a:spAutoFit/>
          </a:bodyPr>
          <a:lstStyle/>
          <a:p>
            <a:pPr>
              <a:spcAft>
                <a:spcPts val="500"/>
              </a:spcAft>
              <a:defRPr sz="2500" b="1">
                <a:solidFill>
                  <a:srgbClr val="153A5B"/>
                </a:solidFill>
                <a:latin typeface="Times New Roman"/>
              </a:defRPr>
            </a:pPr>
            <a:r>
              <a:t>Pneumonic</a:t>
            </a:r>
          </a:p>
        </p:txBody>
      </p:sp>
      <p:sp>
        <p:nvSpPr>
          <p:cNvPr id="22" name="TextBox 21"/>
          <p:cNvSpPr txBox="1"/>
          <p:nvPr/>
        </p:nvSpPr>
        <p:spPr>
          <a:xfrm>
            <a:off x="3566160" y="4343400"/>
            <a:ext cx="2103120" cy="320040"/>
          </a:xfrm>
          <a:prstGeom prst="rect">
            <a:avLst/>
          </a:prstGeom>
          <a:noFill/>
        </p:spPr>
        <p:txBody>
          <a:bodyPr wrap="square" lIns="0" rIns="0" tIns="0" bIns="0">
            <a:spAutoFit/>
          </a:bodyPr>
          <a:lstStyle/>
          <a:p>
            <a:pPr>
              <a:spcAft>
                <a:spcPts val="500"/>
              </a:spcAft>
              <a:defRPr sz="1600" b="1">
                <a:solidFill>
                  <a:srgbClr val="2878A5"/>
                </a:solidFill>
                <a:latin typeface="Times New Roman"/>
              </a:defRPr>
            </a:pPr>
            <a:r>
              <a:t>LUNGS</a:t>
            </a:r>
          </a:p>
        </p:txBody>
      </p:sp>
      <p:sp>
        <p:nvSpPr>
          <p:cNvPr id="23" name="TextBox 22"/>
          <p:cNvSpPr txBox="1"/>
          <p:nvPr/>
        </p:nvSpPr>
        <p:spPr>
          <a:xfrm>
            <a:off x="5623560" y="4325112"/>
            <a:ext cx="5669280" cy="713232"/>
          </a:xfrm>
          <a:prstGeom prst="rect">
            <a:avLst/>
          </a:prstGeom>
          <a:noFill/>
        </p:spPr>
        <p:txBody>
          <a:bodyPr wrap="square" lIns="0" rIns="0" tIns="0" bIns="0">
            <a:spAutoFit/>
          </a:bodyPr>
          <a:lstStyle/>
          <a:p>
            <a:pPr>
              <a:spcAft>
                <a:spcPts val="500"/>
              </a:spcAft>
              <a:defRPr sz="2100" b="0">
                <a:solidFill>
                  <a:srgbClr val="24282C"/>
                </a:solidFill>
                <a:latin typeface="Times New Roman"/>
              </a:defRPr>
            </a:pPr>
            <a:r>
              <a:t>Cough and breathing problems; can spread between people</a:t>
            </a:r>
          </a:p>
        </p:txBody>
      </p:sp>
      <p:sp>
        <p:nvSpPr>
          <p:cNvPr id="24" name="Rectangle 23"/>
          <p:cNvSpPr/>
          <p:nvPr/>
        </p:nvSpPr>
        <p:spPr>
          <a:xfrm>
            <a:off x="1325880" y="5129784"/>
            <a:ext cx="10149840" cy="10972"/>
          </a:xfrm>
          <a:prstGeom prst="rect">
            <a:avLst/>
          </a:prstGeom>
          <a:solidFill>
            <a:srgbClr val="D2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5632704"/>
            <a:ext cx="11000232" cy="585216"/>
          </a:xfrm>
          <a:prstGeom prst="rect">
            <a:avLst/>
          </a:prstGeom>
          <a:solidFill>
            <a:srgbClr val="15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788152"/>
            <a:ext cx="10515600" cy="329184"/>
          </a:xfrm>
          <a:prstGeom prst="rect">
            <a:avLst/>
          </a:prstGeom>
          <a:noFill/>
        </p:spPr>
        <p:txBody>
          <a:bodyPr wrap="square" lIns="0" rIns="0" tIns="0" bIns="0">
            <a:spAutoFit/>
          </a:bodyPr>
          <a:lstStyle/>
          <a:p>
            <a:pPr>
              <a:spcAft>
                <a:spcPts val="500"/>
              </a:spcAft>
              <a:defRPr sz="2000" b="0">
                <a:solidFill>
                  <a:srgbClr val="FFFFFF"/>
                </a:solidFill>
                <a:latin typeface="Times New Roman"/>
              </a:defRPr>
            </a:pPr>
            <a:r>
              <a:t>All forms need urgent care. Untreated infection can spread in the body.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7"/>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94360" y="237744"/>
            <a:ext cx="9144000" cy="228600"/>
          </a:xfrm>
          <a:prstGeom prst="rect">
            <a:avLst/>
          </a:prstGeom>
          <a:noFill/>
        </p:spPr>
        <p:txBody>
          <a:bodyPr wrap="square" lIns="0" rIns="0" tIns="0" bIns="0">
            <a:spAutoFit/>
          </a:bodyPr>
          <a:lstStyle/>
          <a:p>
            <a:pPr>
              <a:spcAft>
                <a:spcPts val="500"/>
              </a:spcAft>
              <a:defRPr sz="1100" b="1">
                <a:solidFill>
                  <a:srgbClr val="2878A5"/>
                </a:solidFill>
                <a:latin typeface="Times New Roman"/>
              </a:defRPr>
            </a:pPr>
            <a:r>
              <a:t>UNIT 3  /  WORLD &amp; CHINA</a:t>
            </a:r>
          </a:p>
        </p:txBody>
      </p:sp>
      <p:sp>
        <p:nvSpPr>
          <p:cNvPr id="5" name="TextBox 4"/>
          <p:cNvSpPr txBox="1"/>
          <p:nvPr/>
        </p:nvSpPr>
        <p:spPr>
          <a:xfrm>
            <a:off x="594360" y="594360"/>
            <a:ext cx="10972800"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Plague: then and now</a:t>
            </a:r>
          </a:p>
        </p:txBody>
      </p:sp>
      <p:sp>
        <p:nvSpPr>
          <p:cNvPr id="6" name="Rectangle 5"/>
          <p:cNvSpPr/>
          <p:nvPr/>
        </p:nvSpPr>
        <p:spPr>
          <a:xfrm>
            <a:off x="594360" y="1280160"/>
            <a:ext cx="11000232" cy="16459"/>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73952"/>
            <a:ext cx="10058400" cy="201168"/>
          </a:xfrm>
          <a:prstGeom prst="rect">
            <a:avLst/>
          </a:prstGeom>
          <a:noFill/>
        </p:spPr>
        <p:txBody>
          <a:bodyPr wrap="square" lIns="0" rIns="0" tIns="0" bIns="0">
            <a:spAutoFit/>
          </a:bodyPr>
          <a:lstStyle/>
          <a:p>
            <a:pPr>
              <a:spcAft>
                <a:spcPts val="500"/>
              </a:spcAft>
              <a:defRPr sz="900" b="0">
                <a:solidFill>
                  <a:srgbClr val="66717B"/>
                </a:solidFill>
                <a:latin typeface="Times New Roman"/>
              </a:defRPr>
            </a:pPr>
            <a:r>
              <a:t>Sources: WHO; University of Hong Kong Libraries — Plague Pandemic in Manchuria. Full links in notes.</a:t>
            </a:r>
          </a:p>
        </p:txBody>
      </p:sp>
      <p:sp>
        <p:nvSpPr>
          <p:cNvPr id="8" name="TextBox 7"/>
          <p:cNvSpPr txBox="1"/>
          <p:nvPr/>
        </p:nvSpPr>
        <p:spPr>
          <a:xfrm>
            <a:off x="10972800" y="6473952"/>
            <a:ext cx="640080" cy="201168"/>
          </a:xfrm>
          <a:prstGeom prst="rect">
            <a:avLst/>
          </a:prstGeom>
          <a:noFill/>
        </p:spPr>
        <p:txBody>
          <a:bodyPr wrap="square" lIns="0" rIns="0" tIns="0" bIns="0">
            <a:spAutoFit/>
          </a:bodyPr>
          <a:lstStyle/>
          <a:p>
            <a:pPr>
              <a:spcAft>
                <a:spcPts val="500"/>
              </a:spcAft>
              <a:defRPr sz="1000" b="0">
                <a:solidFill>
                  <a:srgbClr val="66717B"/>
                </a:solidFill>
                <a:latin typeface="Times New Roman"/>
              </a:defRPr>
            </a:pPr>
            <a:r>
              <a:t>4 / 5</a:t>
            </a:r>
          </a:p>
        </p:txBody>
      </p:sp>
      <p:sp>
        <p:nvSpPr>
          <p:cNvPr id="9" name="Rectangle 8"/>
          <p:cNvSpPr/>
          <p:nvPr/>
        </p:nvSpPr>
        <p:spPr>
          <a:xfrm>
            <a:off x="594360" y="1783080"/>
            <a:ext cx="3410712" cy="73152"/>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03120"/>
            <a:ext cx="3410712"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14th century</a:t>
            </a:r>
          </a:p>
        </p:txBody>
      </p:sp>
      <p:sp>
        <p:nvSpPr>
          <p:cNvPr id="11" name="TextBox 10"/>
          <p:cNvSpPr txBox="1"/>
          <p:nvPr/>
        </p:nvSpPr>
        <p:spPr>
          <a:xfrm>
            <a:off x="594360" y="2926080"/>
            <a:ext cx="3410712" cy="365760"/>
          </a:xfrm>
          <a:prstGeom prst="rect">
            <a:avLst/>
          </a:prstGeom>
          <a:noFill/>
        </p:spPr>
        <p:txBody>
          <a:bodyPr wrap="square" lIns="0" rIns="0" tIns="0" bIns="0">
            <a:spAutoFit/>
          </a:bodyPr>
          <a:lstStyle/>
          <a:p>
            <a:pPr>
              <a:spcAft>
                <a:spcPts val="500"/>
              </a:spcAft>
              <a:defRPr sz="1700" b="1">
                <a:solidFill>
                  <a:srgbClr val="2878A5"/>
                </a:solidFill>
                <a:latin typeface="Times New Roman"/>
              </a:defRPr>
            </a:pPr>
            <a:r>
              <a:t>THE BLACK DEATH</a:t>
            </a:r>
          </a:p>
        </p:txBody>
      </p:sp>
      <p:sp>
        <p:nvSpPr>
          <p:cNvPr id="12" name="TextBox 11"/>
          <p:cNvSpPr txBox="1"/>
          <p:nvPr/>
        </p:nvSpPr>
        <p:spPr>
          <a:xfrm>
            <a:off x="594360" y="3611880"/>
            <a:ext cx="3410712" cy="150876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A major plague pandemic</a:t>
            </a:r>
          </a:p>
          <a:p>
            <a:pPr>
              <a:spcAft>
                <a:spcPts val="500"/>
              </a:spcAft>
              <a:defRPr sz="2300" b="0">
                <a:solidFill>
                  <a:srgbClr val="24282C"/>
                </a:solidFill>
                <a:latin typeface="Times New Roman"/>
              </a:defRPr>
            </a:pPr>
            <a:r>
              <a:t>with great loss of life</a:t>
            </a:r>
          </a:p>
          <a:p>
            <a:pPr>
              <a:spcAft>
                <a:spcPts val="500"/>
              </a:spcAft>
              <a:defRPr sz="2300" b="0">
                <a:solidFill>
                  <a:srgbClr val="24282C"/>
                </a:solidFill>
                <a:latin typeface="Times New Roman"/>
              </a:defRPr>
            </a:pPr>
            <a:r>
              <a:t>in Europe.</a:t>
            </a:r>
          </a:p>
        </p:txBody>
      </p:sp>
      <p:sp>
        <p:nvSpPr>
          <p:cNvPr id="13" name="Rectangle 12"/>
          <p:cNvSpPr/>
          <p:nvPr/>
        </p:nvSpPr>
        <p:spPr>
          <a:xfrm>
            <a:off x="4389120" y="1783080"/>
            <a:ext cx="3410712" cy="73152"/>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103120"/>
            <a:ext cx="3410712"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1910–1911</a:t>
            </a:r>
          </a:p>
        </p:txBody>
      </p:sp>
      <p:sp>
        <p:nvSpPr>
          <p:cNvPr id="15" name="TextBox 14"/>
          <p:cNvSpPr txBox="1"/>
          <p:nvPr/>
        </p:nvSpPr>
        <p:spPr>
          <a:xfrm>
            <a:off x="4389120" y="2926080"/>
            <a:ext cx="3410712" cy="365760"/>
          </a:xfrm>
          <a:prstGeom prst="rect">
            <a:avLst/>
          </a:prstGeom>
          <a:noFill/>
        </p:spPr>
        <p:txBody>
          <a:bodyPr wrap="square" lIns="0" rIns="0" tIns="0" bIns="0">
            <a:spAutoFit/>
          </a:bodyPr>
          <a:lstStyle/>
          <a:p>
            <a:pPr>
              <a:spcAft>
                <a:spcPts val="500"/>
              </a:spcAft>
              <a:defRPr sz="1700" b="1">
                <a:solidFill>
                  <a:srgbClr val="2878A5"/>
                </a:solidFill>
                <a:latin typeface="Times New Roman"/>
              </a:defRPr>
            </a:pPr>
            <a:r>
              <a:t>NORTHEAST CHINA</a:t>
            </a:r>
          </a:p>
        </p:txBody>
      </p:sp>
      <p:sp>
        <p:nvSpPr>
          <p:cNvPr id="16" name="TextBox 15"/>
          <p:cNvSpPr txBox="1"/>
          <p:nvPr/>
        </p:nvSpPr>
        <p:spPr>
          <a:xfrm>
            <a:off x="4389120" y="3611880"/>
            <a:ext cx="3410712" cy="150876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About 60,000 deaths.</a:t>
            </a:r>
          </a:p>
          <a:p>
            <a:pPr>
              <a:spcAft>
                <a:spcPts val="500"/>
              </a:spcAft>
              <a:defRPr sz="2300" b="0">
                <a:solidFill>
                  <a:srgbClr val="24282C"/>
                </a:solidFill>
                <a:latin typeface="Times New Roman"/>
              </a:defRPr>
            </a:pPr>
            <a:r>
              <a:t>Wu Lien-teh helped</a:t>
            </a:r>
          </a:p>
          <a:p>
            <a:pPr>
              <a:spcAft>
                <a:spcPts val="500"/>
              </a:spcAft>
              <a:defRPr sz="2300" b="0">
                <a:solidFill>
                  <a:srgbClr val="24282C"/>
                </a:solidFill>
                <a:latin typeface="Times New Roman"/>
              </a:defRPr>
            </a:pPr>
            <a:r>
              <a:t>lead the response.</a:t>
            </a:r>
          </a:p>
        </p:txBody>
      </p:sp>
      <p:sp>
        <p:nvSpPr>
          <p:cNvPr id="17" name="Rectangle 16"/>
          <p:cNvSpPr/>
          <p:nvPr/>
        </p:nvSpPr>
        <p:spPr>
          <a:xfrm>
            <a:off x="8183879" y="1783080"/>
            <a:ext cx="3410712" cy="73152"/>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103120"/>
            <a:ext cx="3410712"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2017</a:t>
            </a:r>
          </a:p>
        </p:txBody>
      </p:sp>
      <p:sp>
        <p:nvSpPr>
          <p:cNvPr id="19" name="TextBox 18"/>
          <p:cNvSpPr txBox="1"/>
          <p:nvPr/>
        </p:nvSpPr>
        <p:spPr>
          <a:xfrm>
            <a:off x="8183879" y="2926080"/>
            <a:ext cx="3410712" cy="365760"/>
          </a:xfrm>
          <a:prstGeom prst="rect">
            <a:avLst/>
          </a:prstGeom>
          <a:noFill/>
        </p:spPr>
        <p:txBody>
          <a:bodyPr wrap="square" lIns="0" rIns="0" tIns="0" bIns="0">
            <a:spAutoFit/>
          </a:bodyPr>
          <a:lstStyle/>
          <a:p>
            <a:pPr>
              <a:spcAft>
                <a:spcPts val="500"/>
              </a:spcAft>
              <a:defRPr sz="1700" b="1">
                <a:solidFill>
                  <a:srgbClr val="2878A5"/>
                </a:solidFill>
                <a:latin typeface="Times New Roman"/>
              </a:defRPr>
            </a:pPr>
            <a:r>
              <a:t>MADAGASCAR</a:t>
            </a:r>
          </a:p>
        </p:txBody>
      </p:sp>
      <p:sp>
        <p:nvSpPr>
          <p:cNvPr id="20" name="TextBox 19"/>
          <p:cNvSpPr txBox="1"/>
          <p:nvPr/>
        </p:nvSpPr>
        <p:spPr>
          <a:xfrm>
            <a:off x="8183879" y="3611880"/>
            <a:ext cx="3410712" cy="1508760"/>
          </a:xfrm>
          <a:prstGeom prst="rect">
            <a:avLst/>
          </a:prstGeom>
          <a:noFill/>
        </p:spPr>
        <p:txBody>
          <a:bodyPr wrap="square" lIns="0" rIns="0" tIns="0" bIns="0">
            <a:spAutoFit/>
          </a:bodyPr>
          <a:lstStyle/>
          <a:p>
            <a:pPr>
              <a:spcAft>
                <a:spcPts val="500"/>
              </a:spcAft>
              <a:defRPr sz="2300" b="0">
                <a:solidFill>
                  <a:srgbClr val="24282C"/>
                </a:solidFill>
                <a:latin typeface="Times New Roman"/>
              </a:defRPr>
            </a:pPr>
            <a:r>
              <a:t>2,348 reported cases*</a:t>
            </a:r>
          </a:p>
          <a:p>
            <a:pPr>
              <a:spcAft>
                <a:spcPts val="500"/>
              </a:spcAft>
              <a:defRPr sz="2300" b="0">
                <a:solidFill>
                  <a:srgbClr val="24282C"/>
                </a:solidFill>
                <a:latin typeface="Times New Roman"/>
              </a:defRPr>
            </a:pPr>
            <a:r>
              <a:t>and 202 deaths</a:t>
            </a:r>
          </a:p>
          <a:p>
            <a:pPr>
              <a:spcAft>
                <a:spcPts val="500"/>
              </a:spcAft>
              <a:defRPr sz="2300" b="0">
                <a:solidFill>
                  <a:srgbClr val="24282C"/>
                </a:solidFill>
                <a:latin typeface="Times New Roman"/>
              </a:defRPr>
            </a:pPr>
            <a:r>
              <a:t>by 22 November.</a:t>
            </a:r>
          </a:p>
        </p:txBody>
      </p:sp>
      <p:sp>
        <p:nvSpPr>
          <p:cNvPr id="21" name="Rectangle 20"/>
          <p:cNvSpPr/>
          <p:nvPr/>
        </p:nvSpPr>
        <p:spPr>
          <a:xfrm>
            <a:off x="594360" y="5486400"/>
            <a:ext cx="11000232" cy="621792"/>
          </a:xfrm>
          <a:prstGeom prst="rect">
            <a:avLst/>
          </a:prstGeom>
          <a:solidFill>
            <a:srgbClr val="E5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5650992"/>
            <a:ext cx="10332720" cy="365760"/>
          </a:xfrm>
          <a:prstGeom prst="rect">
            <a:avLst/>
          </a:prstGeom>
          <a:noFill/>
        </p:spPr>
        <p:txBody>
          <a:bodyPr wrap="square" lIns="0" rIns="0" tIns="0" bIns="0">
            <a:spAutoFit/>
          </a:bodyPr>
          <a:lstStyle/>
          <a:p>
            <a:pPr>
              <a:spcAft>
                <a:spcPts val="500"/>
              </a:spcAft>
              <a:defRPr sz="2400" b="1">
                <a:solidFill>
                  <a:srgbClr val="153A5B"/>
                </a:solidFill>
                <a:latin typeface="Times New Roman"/>
              </a:defRPr>
            </a:pPr>
            <a:r>
              <a:t>Plague is part of history — and it still exists today.</a:t>
            </a:r>
          </a:p>
        </p:txBody>
      </p:sp>
      <p:sp>
        <p:nvSpPr>
          <p:cNvPr id="23" name="TextBox 22"/>
          <p:cNvSpPr txBox="1"/>
          <p:nvPr/>
        </p:nvSpPr>
        <p:spPr>
          <a:xfrm>
            <a:off x="594360" y="6208776"/>
            <a:ext cx="10789920" cy="219456"/>
          </a:xfrm>
          <a:prstGeom prst="rect">
            <a:avLst/>
          </a:prstGeom>
          <a:noFill/>
        </p:spPr>
        <p:txBody>
          <a:bodyPr wrap="square" lIns="0" rIns="0" tIns="0" bIns="0">
            <a:spAutoFit/>
          </a:bodyPr>
          <a:lstStyle/>
          <a:p>
            <a:pPr>
              <a:spcAft>
                <a:spcPts val="500"/>
              </a:spcAft>
              <a:defRPr sz="1100" b="0">
                <a:solidFill>
                  <a:srgbClr val="66717B"/>
                </a:solidFill>
                <a:latin typeface="Times New Roman"/>
              </a:defRPr>
            </a:pPr>
            <a:r>
              <a:t>*Confirmed, probable and suspected cases; 1 Aug–22 Nov 2017. Not a full-year total.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7"/>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94360" y="237744"/>
            <a:ext cx="9144000" cy="228600"/>
          </a:xfrm>
          <a:prstGeom prst="rect">
            <a:avLst/>
          </a:prstGeom>
          <a:noFill/>
        </p:spPr>
        <p:txBody>
          <a:bodyPr wrap="square" lIns="0" rIns="0" tIns="0" bIns="0">
            <a:spAutoFit/>
          </a:bodyPr>
          <a:lstStyle/>
          <a:p>
            <a:pPr>
              <a:spcAft>
                <a:spcPts val="500"/>
              </a:spcAft>
              <a:defRPr sz="1100" b="1">
                <a:solidFill>
                  <a:srgbClr val="2878A5"/>
                </a:solidFill>
                <a:latin typeface="Times New Roman"/>
              </a:defRPr>
            </a:pPr>
            <a:r>
              <a:t>UNIT 3  /  IMPACT &amp; PREVENTION</a:t>
            </a:r>
          </a:p>
        </p:txBody>
      </p:sp>
      <p:sp>
        <p:nvSpPr>
          <p:cNvPr id="5" name="TextBox 4"/>
          <p:cNvSpPr txBox="1"/>
          <p:nvPr/>
        </p:nvSpPr>
        <p:spPr>
          <a:xfrm>
            <a:off x="594360" y="594360"/>
            <a:ext cx="10972800" cy="594360"/>
          </a:xfrm>
          <a:prstGeom prst="rect">
            <a:avLst/>
          </a:prstGeom>
          <a:noFill/>
        </p:spPr>
        <p:txBody>
          <a:bodyPr wrap="square" lIns="0" rIns="0" tIns="0" bIns="0">
            <a:spAutoFit/>
          </a:bodyPr>
          <a:lstStyle/>
          <a:p>
            <a:pPr>
              <a:spcAft>
                <a:spcPts val="500"/>
              </a:spcAft>
              <a:defRPr sz="3200" b="1">
                <a:solidFill>
                  <a:srgbClr val="153A5B"/>
                </a:solidFill>
                <a:latin typeface="Times New Roman"/>
              </a:defRPr>
            </a:pPr>
            <a:r>
              <a:t>Real outbreaks. Real harm.</a:t>
            </a:r>
          </a:p>
        </p:txBody>
      </p:sp>
      <p:sp>
        <p:nvSpPr>
          <p:cNvPr id="6" name="Rectangle 5"/>
          <p:cNvSpPr/>
          <p:nvPr/>
        </p:nvSpPr>
        <p:spPr>
          <a:xfrm>
            <a:off x="594360" y="1280160"/>
            <a:ext cx="11000232" cy="16459"/>
          </a:xfrm>
          <a:prstGeom prst="rect">
            <a:avLst/>
          </a:prstGeom>
          <a:solidFill>
            <a:srgbClr val="287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73952"/>
            <a:ext cx="10058400" cy="201168"/>
          </a:xfrm>
          <a:prstGeom prst="rect">
            <a:avLst/>
          </a:prstGeom>
          <a:noFill/>
        </p:spPr>
        <p:txBody>
          <a:bodyPr wrap="square" lIns="0" rIns="0" tIns="0" bIns="0">
            <a:spAutoFit/>
          </a:bodyPr>
          <a:lstStyle/>
          <a:p>
            <a:pPr>
              <a:spcAft>
                <a:spcPts val="500"/>
              </a:spcAft>
              <a:defRPr sz="900" b="0">
                <a:solidFill>
                  <a:srgbClr val="66717B"/>
                </a:solidFill>
                <a:latin typeface="Times New Roman"/>
              </a:defRPr>
            </a:pPr>
            <a:r>
              <a:t>Sources: WHO; CDC. Illustration from the original PPT. Full links in notes.</a:t>
            </a:r>
          </a:p>
        </p:txBody>
      </p:sp>
      <p:sp>
        <p:nvSpPr>
          <p:cNvPr id="8" name="TextBox 7"/>
          <p:cNvSpPr txBox="1"/>
          <p:nvPr/>
        </p:nvSpPr>
        <p:spPr>
          <a:xfrm>
            <a:off x="10972800" y="6473952"/>
            <a:ext cx="640080" cy="201168"/>
          </a:xfrm>
          <a:prstGeom prst="rect">
            <a:avLst/>
          </a:prstGeom>
          <a:noFill/>
        </p:spPr>
        <p:txBody>
          <a:bodyPr wrap="square" lIns="0" rIns="0" tIns="0" bIns="0">
            <a:spAutoFit/>
          </a:bodyPr>
          <a:lstStyle/>
          <a:p>
            <a:pPr>
              <a:spcAft>
                <a:spcPts val="500"/>
              </a:spcAft>
              <a:defRPr sz="1000" b="0">
                <a:solidFill>
                  <a:srgbClr val="66717B"/>
                </a:solidFill>
                <a:latin typeface="Times New Roman"/>
              </a:defRPr>
            </a:pPr>
            <a:r>
              <a:t>5 / 5</a:t>
            </a:r>
          </a:p>
        </p:txBody>
      </p:sp>
      <p:pic>
        <p:nvPicPr>
          <p:cNvPr id="9" name="Picture 8" descr="original_1_9.jpg"/>
          <p:cNvPicPr>
            <a:picLocks noChangeAspect="1"/>
          </p:cNvPicPr>
          <p:nvPr/>
        </p:nvPicPr>
        <p:blipFill>
          <a:blip r:embed="rId2"/>
          <a:stretch>
            <a:fillRect/>
          </a:stretch>
        </p:blipFill>
        <p:spPr>
          <a:xfrm>
            <a:off x="594360" y="1828800"/>
            <a:ext cx="5577840" cy="3137535"/>
          </a:xfrm>
          <a:prstGeom prst="rect">
            <a:avLst/>
          </a:prstGeom>
        </p:spPr>
      </p:pic>
      <p:sp>
        <p:nvSpPr>
          <p:cNvPr id="10" name="TextBox 9"/>
          <p:cNvSpPr txBox="1"/>
          <p:nvPr/>
        </p:nvSpPr>
        <p:spPr>
          <a:xfrm>
            <a:off x="594360" y="5257800"/>
            <a:ext cx="5577840" cy="457200"/>
          </a:xfrm>
          <a:prstGeom prst="rect">
            <a:avLst/>
          </a:prstGeom>
          <a:noFill/>
        </p:spPr>
        <p:txBody>
          <a:bodyPr wrap="square" lIns="0" rIns="0" tIns="0" bIns="0">
            <a:spAutoFit/>
          </a:bodyPr>
          <a:lstStyle/>
          <a:p>
            <a:pPr>
              <a:spcAft>
                <a:spcPts val="500"/>
              </a:spcAft>
              <a:defRPr sz="2200" b="1">
                <a:solidFill>
                  <a:srgbClr val="153A5B"/>
                </a:solidFill>
                <a:latin typeface="Times New Roman"/>
              </a:defRPr>
            </a:pPr>
            <a:r>
              <a:t>A disease can change everyday life.</a:t>
            </a:r>
          </a:p>
        </p:txBody>
      </p:sp>
      <p:sp>
        <p:nvSpPr>
          <p:cNvPr id="11" name="TextBox 10"/>
          <p:cNvSpPr txBox="1"/>
          <p:nvPr/>
        </p:nvSpPr>
        <p:spPr>
          <a:xfrm>
            <a:off x="594360" y="5879592"/>
            <a:ext cx="5577840" cy="320040"/>
          </a:xfrm>
          <a:prstGeom prst="rect">
            <a:avLst/>
          </a:prstGeom>
          <a:noFill/>
        </p:spPr>
        <p:txBody>
          <a:bodyPr wrap="square" lIns="0" rIns="0" tIns="0" bIns="0">
            <a:spAutoFit/>
          </a:bodyPr>
          <a:lstStyle/>
          <a:p>
            <a:pPr>
              <a:spcAft>
                <a:spcPts val="500"/>
              </a:spcAft>
              <a:defRPr sz="1200" b="0">
                <a:solidFill>
                  <a:srgbClr val="66717B"/>
                </a:solidFill>
                <a:latin typeface="Times New Roman"/>
              </a:defRPr>
            </a:pPr>
            <a:r>
              <a:t>Historical scene: an illustration, not an outbreak photograph.</a:t>
            </a:r>
          </a:p>
        </p:txBody>
      </p:sp>
      <p:sp>
        <p:nvSpPr>
          <p:cNvPr id="12" name="TextBox 11"/>
          <p:cNvSpPr txBox="1"/>
          <p:nvPr/>
        </p:nvSpPr>
        <p:spPr>
          <a:xfrm>
            <a:off x="594360" y="6217920"/>
            <a:ext cx="5577840" cy="201168"/>
          </a:xfrm>
          <a:prstGeom prst="rect">
            <a:avLst/>
          </a:prstGeom>
          <a:noFill/>
        </p:spPr>
        <p:txBody>
          <a:bodyPr wrap="square" lIns="0" rIns="0" tIns="0" bIns="0">
            <a:spAutoFit/>
          </a:bodyPr>
          <a:lstStyle/>
          <a:p>
            <a:pPr>
              <a:spcAft>
                <a:spcPts val="500"/>
              </a:spcAft>
              <a:defRPr sz="900" b="0">
                <a:solidFill>
                  <a:srgbClr val="66717B"/>
                </a:solidFill>
                <a:latin typeface="Times New Roman"/>
              </a:defRPr>
            </a:pPr>
            <a:r>
              <a:t>Image reused from the original presentation supplied by the user.</a:t>
            </a:r>
          </a:p>
        </p:txBody>
      </p:sp>
      <p:sp>
        <p:nvSpPr>
          <p:cNvPr id="13" name="TextBox 12"/>
          <p:cNvSpPr txBox="1"/>
          <p:nvPr/>
        </p:nvSpPr>
        <p:spPr>
          <a:xfrm>
            <a:off x="6537960" y="1645920"/>
            <a:ext cx="4754880" cy="274320"/>
          </a:xfrm>
          <a:prstGeom prst="rect">
            <a:avLst/>
          </a:prstGeom>
          <a:noFill/>
        </p:spPr>
        <p:txBody>
          <a:bodyPr wrap="square" lIns="0" rIns="0" tIns="0" bIns="0">
            <a:spAutoFit/>
          </a:bodyPr>
          <a:lstStyle/>
          <a:p>
            <a:pPr>
              <a:spcAft>
                <a:spcPts val="500"/>
              </a:spcAft>
              <a:defRPr sz="1500" b="1">
                <a:solidFill>
                  <a:srgbClr val="2878A5"/>
                </a:solidFill>
                <a:latin typeface="Times New Roman"/>
              </a:defRPr>
            </a:pPr>
            <a:r>
              <a:t>THE HARM</a:t>
            </a:r>
          </a:p>
        </p:txBody>
      </p:sp>
      <p:sp>
        <p:nvSpPr>
          <p:cNvPr id="14" name="TextBox 13"/>
          <p:cNvSpPr txBox="1"/>
          <p:nvPr/>
        </p:nvSpPr>
        <p:spPr>
          <a:xfrm>
            <a:off x="6537960" y="2121408"/>
            <a:ext cx="4956048" cy="1892807"/>
          </a:xfrm>
          <a:prstGeom prst="rect">
            <a:avLst/>
          </a:prstGeom>
          <a:noFill/>
        </p:spPr>
        <p:txBody>
          <a:bodyPr wrap="square" lIns="0" rIns="0" tIns="0" bIns="0">
            <a:spAutoFit/>
          </a:bodyPr>
          <a:lstStyle/>
          <a:p>
            <a:pPr>
              <a:spcAft>
                <a:spcPts val="500"/>
              </a:spcAft>
              <a:defRPr sz="2300" b="0">
                <a:solidFill>
                  <a:srgbClr val="153A5B"/>
                </a:solidFill>
                <a:latin typeface="Times New Roman"/>
              </a:defRPr>
            </a:pPr>
            <a:r>
              <a:t>Lung damage and breathing problems</a:t>
            </a:r>
          </a:p>
          <a:p>
            <a:pPr>
              <a:spcAft>
                <a:spcPts val="500"/>
              </a:spcAft>
              <a:defRPr sz="2300" b="0">
                <a:solidFill>
                  <a:srgbClr val="153A5B"/>
                </a:solidFill>
                <a:latin typeface="Times New Roman"/>
              </a:defRPr>
            </a:pPr>
            <a:r>
              <a:t>Serious bleeding, shock and death</a:t>
            </a:r>
          </a:p>
          <a:p>
            <a:pPr>
              <a:spcAft>
                <a:spcPts val="500"/>
              </a:spcAft>
              <a:defRPr sz="2300" b="0">
                <a:solidFill>
                  <a:srgbClr val="153A5B"/>
                </a:solidFill>
                <a:latin typeface="Times New Roman"/>
              </a:defRPr>
            </a:pPr>
            <a:r>
              <a:t>Pressure on hospitals and families</a:t>
            </a:r>
          </a:p>
        </p:txBody>
      </p:sp>
      <p:sp>
        <p:nvSpPr>
          <p:cNvPr id="15" name="Rectangle 14"/>
          <p:cNvSpPr/>
          <p:nvPr/>
        </p:nvSpPr>
        <p:spPr>
          <a:xfrm>
            <a:off x="6537960" y="4251960"/>
            <a:ext cx="5056632" cy="1810512"/>
          </a:xfrm>
          <a:prstGeom prst="rect">
            <a:avLst/>
          </a:prstGeom>
          <a:solidFill>
            <a:srgbClr val="E5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4480560"/>
            <a:ext cx="4572000" cy="548640"/>
          </a:xfrm>
          <a:prstGeom prst="rect">
            <a:avLst/>
          </a:prstGeom>
          <a:noFill/>
        </p:spPr>
        <p:txBody>
          <a:bodyPr wrap="square" lIns="0" rIns="0" tIns="0" bIns="0">
            <a:spAutoFit/>
          </a:bodyPr>
          <a:lstStyle/>
          <a:p>
            <a:pPr>
              <a:spcAft>
                <a:spcPts val="500"/>
              </a:spcAft>
              <a:defRPr sz="2300" b="1">
                <a:solidFill>
                  <a:srgbClr val="153A5B"/>
                </a:solidFill>
                <a:latin typeface="Times New Roman"/>
              </a:defRPr>
            </a:pPr>
            <a:r>
              <a:t>Early antibiotics can save lives.</a:t>
            </a:r>
          </a:p>
        </p:txBody>
      </p:sp>
      <p:sp>
        <p:nvSpPr>
          <p:cNvPr id="17" name="TextBox 16"/>
          <p:cNvSpPr txBox="1"/>
          <p:nvPr/>
        </p:nvSpPr>
        <p:spPr>
          <a:xfrm>
            <a:off x="6766560" y="5184648"/>
            <a:ext cx="4572000" cy="758952"/>
          </a:xfrm>
          <a:prstGeom prst="rect">
            <a:avLst/>
          </a:prstGeom>
          <a:noFill/>
        </p:spPr>
        <p:txBody>
          <a:bodyPr wrap="square" lIns="0" rIns="0" tIns="0" bIns="0">
            <a:spAutoFit/>
          </a:bodyPr>
          <a:lstStyle/>
          <a:p>
            <a:pPr>
              <a:spcAft>
                <a:spcPts val="500"/>
              </a:spcAft>
              <a:defRPr sz="1900" b="0">
                <a:solidFill>
                  <a:srgbClr val="24282C"/>
                </a:solidFill>
                <a:latin typeface="Times New Roman"/>
              </a:defRPr>
            </a:pPr>
            <a:r>
              <a:t>Avoid flea bites and sick or dead animals.</a:t>
            </a:r>
          </a:p>
          <a:p>
            <a:pPr>
              <a:spcAft>
                <a:spcPts val="500"/>
              </a:spcAft>
              <a:defRPr sz="1900" b="0">
                <a:solidFill>
                  <a:srgbClr val="24282C"/>
                </a:solidFill>
                <a:latin typeface="Times New Roman"/>
              </a:defRPr>
            </a:pPr>
            <a:r>
              <a:t>After possible exposure, seek care if ill.</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2026-10-26T15:48:12.8160000Z</dcterms:created>
  <dcterms:modified xsi:type="dcterms:W3CDTF">2026-10-26T15:48:12.8160000Z</dcterms:modified>
</coreProperties>
</file>