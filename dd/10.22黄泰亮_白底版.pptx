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screen4x3"/>
  <p:notesSz cx="6858000" cy="9144000"/>
  <p:embeddedFontLs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24362"/>
            <a:ext cx="685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862137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ACM Computing Surveys 2024 · 经典框架深度解读与组会汇报</a:t>
            </a:r>
            <a:endParaRPr sz="12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2214562"/>
            <a:ext cx="106013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Plus Jakarta Sans"/>
              </a:rPr>
              <a:t>多模态机器学习基础与趋势：</a:t>
            </a:r>
            <a:r>
              <a:t>
</a:t>
            </a:r>
            <a:r>
              <a:rPr sz="3600" b="1" i="0" u="none">
                <a:solidFill>
                  <a:srgbClr val="0F172A"/>
                </a:solidFill>
                <a:latin typeface="Plus Jakarta Sans"/>
              </a:rPr>
              <a:t> 原则、挑战与开放问题</a:t>
            </a:r>
            <a:endParaRPr sz="36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3624262"/>
            <a:ext cx="88582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Plus Jakarta Sans"/>
              </a:rPr>
              <a:t>Foundations &amp; Trends in Multimodal Machine Learning: Principles, Challenges, and Open Questions</a:t>
            </a:r>
            <a:endParaRPr sz="16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4767262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原著作者：Paul Pu Liang, Amir Zadeh, Louis-Philippe Morency (CMU)  |  聚焦：三项基本原则 · 六大核心挑战 · MLLM前沿映射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763642" y="2209800"/>
            <a:ext cx="4856857" cy="2838450"/>
          </a:xfrm>
          <a:prstGeom prst="roundRect">
            <a:avLst>
              <a:gd name="adj" fmla="val 40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181225"/>
            <a:ext cx="5849242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4638675"/>
            <a:ext cx="5849242" cy="876300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0342" y="2733675"/>
            <a:ext cx="163115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447925"/>
            <a:ext cx="16311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4876800"/>
            <a:ext cx="133498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OVERVIEW &amp; CORE THESIS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609600"/>
            <a:ext cx="367284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综述：核心论点与贯穿案例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30342" y="2695575"/>
            <a:ext cx="5161657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贯穿教学案例：实验视频分析</a:t>
            </a:r>
            <a:endParaRPr sz="16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30342" y="3095625"/>
            <a:ext cx="516165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任务提问：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“操作者是否先关闭阀门，再拆下管道？”</a:t>
            </a:r>
            <a:endParaRPr sz="135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" y="2409825"/>
            <a:ext cx="1005840" cy="253365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中心论点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050" y="4848225"/>
            <a:ext cx="5525392" cy="41529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核心警示：“输入了两种模态”、“结构允许交互”与“模型实际学到有用交互”是三个完全不同的判断，需通过单模态基线与证据替换检验。</a:t>
            </a:r>
            <a:endParaRPr sz="1350" b="1" i="0" u="none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82742" y="34623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39892" y="3476625"/>
            <a:ext cx="4952107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视觉画面：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提供手部动作与阀门状态空间变化。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82742" y="37861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39892" y="3800475"/>
            <a:ext cx="4952107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音频信号：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提供环境提示音与气流/设备机械声。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82742" y="41100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39892" y="4124325"/>
            <a:ext cx="4209157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文本字幕：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提供操作说明，但口述时长与实际动作未必同步。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82742" y="46624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39892" y="4676775"/>
            <a:ext cx="4952107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核心难点：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跨模态时序对齐与多步先后关系推理。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2500" y="27955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9650" y="2809875"/>
            <a:ext cx="5277742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超越数据堆叠：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不只是“如何输入更多模态”，而是回答不同模态为何有效。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2500" y="33480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9650" y="3362325"/>
            <a:ext cx="6478116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机制与归因：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哪些信息应该共享？模型是否真正利用了跨模态证据？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52500" y="36718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9650" y="3686175"/>
            <a:ext cx="5277742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代价与收益权衡：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性能提升能否抵消多源异构噪声与额外的计算成本？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428875"/>
            <a:ext cx="3505200" cy="2838450"/>
          </a:xfrm>
          <a:prstGeom prst="roundRect">
            <a:avLst>
              <a:gd name="adj" fmla="val 53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428875"/>
            <a:ext cx="3505200" cy="2838450"/>
          </a:xfrm>
          <a:prstGeom prst="roundRect">
            <a:avLst>
              <a:gd name="adj" fmla="val 53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15300" y="2428875"/>
            <a:ext cx="3505200" cy="2838450"/>
          </a:xfrm>
          <a:prstGeom prst="roundRect">
            <a:avLst>
              <a:gd name="adj" fmla="val 53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762250"/>
            <a:ext cx="266848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762250"/>
            <a:ext cx="266848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100" y="2762250"/>
            <a:ext cx="266848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FOUNDATIONAL PRINCIPLES (§2)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多模态研究的三大基本原则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6300" y="3286125"/>
            <a:ext cx="38004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1. 异质性 (Heterogeneity)</a:t>
            </a:r>
            <a:endParaRPr sz="18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300" y="3705225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不同模态在基本元素、分布、结构、信息量、噪声和相关性上存在天然差异。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6300" y="4505325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lus Jakarta Sans"/>
              </a:rPr>
              <a:t>向量化仅统一接口，未消除采样率与粒度差异。</a:t>
            </a:r>
            <a:endParaRPr sz="1350" b="0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48200" y="3286125"/>
            <a:ext cx="38004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2. 关联性 (Connections)</a:t>
            </a:r>
            <a:endParaRPr sz="18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48200" y="3705225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模态并非独立，因共享互补信息而存在内在联系，包含底层的统计关联与顶层的语义对应。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48200" y="4505325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lus Jakarta Sans"/>
              </a:rPr>
              <a:t>侧重数据本身客观存在的跨模态共现与依赖。</a:t>
            </a:r>
            <a:endParaRPr sz="1350" b="0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20100" y="3286125"/>
            <a:ext cx="37719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3. 交互性 (Interactions)</a:t>
            </a:r>
            <a:endParaRPr sz="18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20100" y="3705225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多个模态共同参与任务推断时产生新信息的过程，涉及交互信息、作用机制与输出响应。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20100" y="4505325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lus Jakarta Sans"/>
              </a:rPr>
              <a:t>侧重模型在推理时如何联合利用多源信息。</a:t>
            </a:r>
            <a:endParaRPr sz="1350" b="0" i="0" u="none">
              <a:solidFill>
                <a:srgbClr val="2563E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124075"/>
            <a:ext cx="5353050" cy="3448050"/>
          </a:xfrm>
          <a:prstGeom prst="roundRect">
            <a:avLst>
              <a:gd name="adj" fmla="val 33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286000"/>
            <a:ext cx="5353050" cy="3124200"/>
          </a:xfrm>
          <a:prstGeom prst="roundRect">
            <a:avLst>
              <a:gd name="adj" fmla="val 36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HETEROGENEITY, CONNECTIONS &amp; INTERACTIONS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三大原则的细粒度解析：维度与信息分解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9150" y="2371725"/>
            <a:ext cx="637579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异质性的六个核心维度 (§2.1)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15100" y="2533650"/>
            <a:ext cx="56769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关联与交互的三类信息模式 (§2.2–2.3)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1550" y="27765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8700" y="2790825"/>
            <a:ext cx="5810250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元素表征：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离散字符/单词 vs. 连续图像帧 vs. 图节点。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1550" y="31003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8700" y="3114675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分布特征：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文本词频遵循 Zipf 定律，传感器信号具不同采样密度。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1550" y="36528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8700" y="3667125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底层结构：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语言具层次语法结构，图像具空间结构，音频具时序结构。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1550" y="42052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8700" y="4219575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信息与噪声：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各模态信息熵不同；存在视觉遮挡、语音混响等异构噪声。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1550" y="47577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8700" y="4772025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任务相关性：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特定模态在不同推理阶段与上下文中的有用程度不同。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67500" y="29384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4650" y="295275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统计关联与语义关联：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从共现相关性、时空因果依赖，到跨模态实体接地（Grounding）与功能逻辑关系。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67500" y="34909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24650" y="350520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冗余信息 (Redundancy)：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字幕与画面均显示阀门关闭，可用于相互校验并提升置信度（增强响应）。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67500" y="40433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24650" y="405765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独有信息 (Uniqueness)：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仅音频记录了设备警报声，强行抹平差异将丢失关键证据。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67500" y="45958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24650" y="461010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协同信息 (Synergy)：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结合画面动作与语音时间提示才能判定先后顺序（涌现响应）。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914525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39280" y="191452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32970" y="191452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26660" y="1914525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628900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39280" y="2628900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32970" y="2628900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26660" y="2628900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343275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9280" y="334327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32970" y="334327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26660" y="3343275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057650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9280" y="4057650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32970" y="4057650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26660" y="4057650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772025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39280" y="477202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32970" y="477202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26660" y="4772025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" y="5486400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39280" y="5486400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32970" y="5486400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26660" y="5486400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1500" y="6200775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39280" y="620077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32970" y="620077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26660" y="6200775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71500" y="1443037"/>
          <a:ext cx="11048999" cy="4772025"/>
        </p:xfrm>
        <a:graphic>
          <a:graphicData uri="http://schemas.openxmlformats.org/drawingml/2006/table">
            <a:tbl>
              <a:tblPr/>
              <a:tblGrid>
                <a:gridCol w="1767780"/>
                <a:gridCol w="3093690"/>
                <a:gridCol w="3093690"/>
                <a:gridCol w="3093839"/>
              </a:tblGrid>
              <a:tr h="68171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核心挑战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子挑战分类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核心科学问题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贯穿案例中的具体对应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8171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1. 表示 (§3)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融合 (Fusion) · 协调 (Coordination) · 裂变 (Fission)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如何保留共同信息与模态特有信息？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提取动作、设备声与字幕的特征表示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171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2. 对齐 (§4)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离散对齐 · 连续对齐 · 上下文化表示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跨模态的哪些元素在时空/语义上对应？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将“关闭阀门”字幕与视频操作帧对齐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171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3. 推理 (§5)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结构建模 · 中间概念 · 推断范式 · 外部知识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如何多步组合多模态证据得出结论？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定位两事件时间区间并比较先后顺序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171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4. 生成 (§6)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摘要 (减少) · 转换 (保持) · 创作 (扩展)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如何生成跨模态一致且忠实的原始数据？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生成实验关键步骤摘要或操作解释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171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5. 迁移 (§7)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跨模态迁移 · 协同学习 · 模型诱导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富资源模态如何辅助噪声或稀缺模态？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训练时用字幕辅助部署时的纯视频识别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1723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6. 量化 (§8)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异质性量化 · 关联与交互度量 · 学习过程优化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如何验证模型实际利用了哪些模态信息？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遮挡关键动作或替换字幕后复测行为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TAXONOMY OF 6 CORE CHALLENGES (TABLE 1)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多模态机器学习的六大核心挑战研究地图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5905500"/>
            <a:ext cx="11049000" cy="533400"/>
          </a:xfrm>
          <a:prstGeom prst="roundRect">
            <a:avLst>
              <a:gd name="adj" fmla="val 2142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1219200"/>
            <a:ext cx="3530649" cy="24765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1219200"/>
            <a:ext cx="3530649" cy="24765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89999" y="1219200"/>
            <a:ext cx="3530649" cy="24765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2679" y="6081712"/>
            <a:ext cx="3514278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903" y="6138862"/>
            <a:ext cx="478631" cy="11028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485900"/>
            <a:ext cx="16311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349" y="1485900"/>
            <a:ext cx="16311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599" y="1485900"/>
            <a:ext cx="16311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CHALLENGE 1: REPRESENTATION (§3)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挑战一：多模态表示学习的三种范式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" y="6057900"/>
            <a:ext cx="2786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加性与乘性双线性交互示意：</a:t>
            </a:r>
            <a:endParaRPr sz="1350" b="1" i="0" u="none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70687" y="6072187"/>
            <a:ext cx="5021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（注：高阶张量 维度呈指数增长，常需低秩分解近似）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" y="1447800"/>
            <a:ext cx="4033902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1a. 表示融合 (Fusion)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0100" y="1828800"/>
            <a:ext cx="3168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目标：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整合多源特征，减少独立表示数量。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9349" y="1447800"/>
            <a:ext cx="4033902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1b. 表示协调 (Coordination)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59349" y="1828800"/>
            <a:ext cx="3168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目标：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保持表示数量不变，通过约束交换跨模态上下文。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18599" y="1447800"/>
            <a:ext cx="3873400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1c. 表示裂变 (Fission)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18599" y="1828800"/>
            <a:ext cx="3168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目标：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解耦生成更多独立表示，刻画内部结构。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2500" y="23479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9650" y="2362200"/>
            <a:ext cx="2959149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抽象融合：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加性、乘性交互、高阶张量外积、门控注意力。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2500" y="29003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9650" y="2914650"/>
            <a:ext cx="2959149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原始融合：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早期直接拼接或输入统一 Transformer。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11749" y="23479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68899" y="2362200"/>
            <a:ext cx="2959149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强协调：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拉近语义等价对（如 CLIP 对比学习，主要捕获冗余信息）。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11749" y="29003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68899" y="2914650"/>
            <a:ext cx="2959149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部分协调：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CCA 正交投影、有序嵌入与概念层次关系。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70999" y="23479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28149" y="2362200"/>
            <a:ext cx="2959149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模态级解耦：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分离各模态独有特征与跨模态共享特征。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70999" y="29003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28149" y="2914650"/>
            <a:ext cx="2959149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细粒度解耦：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事后解耦投影 (EMAP)、子空间聚类与矩阵分解。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681162"/>
            <a:ext cx="617785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3157537"/>
            <a:ext cx="617785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4633912"/>
            <a:ext cx="617785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54155" y="2231528"/>
            <a:ext cx="4566344" cy="1585168"/>
          </a:xfrm>
          <a:prstGeom prst="roundRect">
            <a:avLst>
              <a:gd name="adj" fmla="val 72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54155" y="3988147"/>
            <a:ext cx="4566344" cy="1438275"/>
          </a:xfrm>
          <a:prstGeom prst="roundRect">
            <a:avLst>
              <a:gd name="adj" fmla="val 794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705" y="2764928"/>
            <a:ext cx="3015108" cy="32786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705" y="4226272"/>
            <a:ext cx="148232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CHALLENGE 2: ALIGNMENT (§4)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挑战二：多模态对齐的粒度与结构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1050" y="1852612"/>
            <a:ext cx="755836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2a. 离散对齐 (Discrete Alignment)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1050" y="2166937"/>
            <a:ext cx="585400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处理边界明确的离散单元（如单词与物体框）。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局部对齐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给定配对学相似度；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全局对齐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无配对标签，常转化为最优传输 (Optimal Transport) 散度最小化问题。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050" y="3328987"/>
            <a:ext cx="755836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2b. 连续对齐 (Continuous Alignment)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1050" y="3643312"/>
            <a:ext cx="585400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处理无明显语义边界的连续信号（语音、时序、MRI）。包含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连续规整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（DTW、对抗对齐）与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模态分割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（通过聚类或 VQ-VAE 向量量化离散化，如 VideoBERT）。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1050" y="4805362"/>
            <a:ext cx="755836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2c. 上下文化表示 (Contextualized Representations)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1050" y="5119687"/>
            <a:ext cx="585400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利用对齐关系动态更新特征：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联合无向对齐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（拼接后全自注意力）、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跨模态有向对齐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（双向交叉注意力，如 ViLBERT）与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图对齐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（GNN 建模非序列拓扑）。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63705" y="2441078"/>
            <a:ext cx="492829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跨模态注意力软对齐机制：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63705" y="3207097"/>
            <a:ext cx="424249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注：注意力权重可辅助视觉定位，但高权重不直接等价于忠实推理或因果关系。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63705" y="4197697"/>
            <a:ext cx="4928294" cy="257175"/>
          </a:xfrm>
          <a:prstGeom prst="rect">
            <a:avLst/>
          </a:prstGeom>
          <a:noFill/>
        </p:spPr>
        <p:txBody>
          <a:bodyPr wrap="none" lIns="1482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lus Jakarta Sans"/>
              </a:rPr>
              <a:t>组会反例思考：人追狗 vs. 狗追人</a:t>
            </a:r>
            <a:endParaRPr sz="1500" b="1" i="0" u="none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63705" y="4531072"/>
            <a:ext cx="424249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Plus Jakarta Sans"/>
              </a:rPr>
              <a:t>若模型仅对齐“人”和“狗”的全局词袋语义，两张图检索得分会同样高。真正难点在于</a:t>
            </a:r>
            <a:r>
              <a:rPr sz="1350" b="1" i="0" u="none">
                <a:solidFill>
                  <a:srgbClr val="1E293B"/>
                </a:solidFill>
                <a:latin typeface="Plus Jakarta Sans"/>
              </a:rPr>
              <a:t>角色、动作关系与空间位置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的组合对齐（Winoground 诊断基准）。</a:t>
            </a:r>
            <a:endParaRPr sz="1350" b="0" i="0" u="none">
              <a:solidFill>
                <a:srgbClr val="1E293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4652962"/>
            <a:ext cx="11049000" cy="1266825"/>
          </a:xfrm>
          <a:prstGeom prst="roundRect">
            <a:avLst>
              <a:gd name="adj" fmla="val 902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1852612"/>
            <a:ext cx="2343150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3499" y="1852612"/>
            <a:ext cx="2343150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75499" y="1738312"/>
            <a:ext cx="234315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77498" y="1738312"/>
            <a:ext cx="234315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5150" y="2562225"/>
            <a:ext cx="177849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149" y="2562225"/>
            <a:ext cx="177849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149" y="2562225"/>
            <a:ext cx="177849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910137"/>
            <a:ext cx="148232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CHALLENGE 3: REASONING (§5)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挑战三：多模态推理的四个组成要素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" y="4881562"/>
            <a:ext cx="11391900" cy="257175"/>
          </a:xfrm>
          <a:prstGeom prst="rect">
            <a:avLst/>
          </a:prstGeom>
          <a:noFill/>
        </p:spPr>
        <p:txBody>
          <a:bodyPr wrap="none" lIns="1482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lus Jakarta Sans"/>
              </a:rPr>
              <a:t>组会案例诊断：如何拆解推理链条中的错误来源？</a:t>
            </a:r>
            <a:endParaRPr sz="1500" b="1" i="0" u="none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" y="5233987"/>
            <a:ext cx="1068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Plus Jakarta Sans"/>
              </a:rPr>
              <a:t>实验视频推理链：</a:t>
            </a:r>
            <a:r>
              <a:rPr sz="1350" b="1" i="0" u="none">
                <a:solidFill>
                  <a:srgbClr val="1E293B"/>
                </a:solidFill>
                <a:latin typeface="Plus Jakarta Sans"/>
              </a:rPr>
              <a:t>定位关闭阀门事件 → 定位拆管事件 → 确定各自时间区间 → 比较先后顺序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。若第一步将“正在拧阀门”误判为“已关闭”（感知错误），后续逻辑推理即使完全正确也会得出错误答案。且模型生成流畅的自然语言推理链（CoT），并不代表其过程忠实于视觉画面。</a:t>
            </a:r>
            <a:endParaRPr sz="1350" b="0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1050" y="2062162"/>
            <a:ext cx="240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STEP 01 · §5.1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1050" y="2271712"/>
            <a:ext cx="252531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结构建模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1050" y="2605087"/>
            <a:ext cx="2019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层次语法树、时序记忆网络、交互式强化学习 (RL) 与神经架构结构搜索。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83049" y="2062162"/>
            <a:ext cx="240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STEP 02 · §5.2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83049" y="2271712"/>
            <a:ext cx="252531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中间概念表征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83049" y="2605087"/>
            <a:ext cx="2019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从稠密隐向量转向可解释注意力图、神经符号离散概念或自然语言中介。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5049" y="1947862"/>
            <a:ext cx="240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STEP 03 · §5.3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5049" y="2157412"/>
            <a:ext cx="252531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推断范式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5049" y="2490787"/>
            <a:ext cx="20193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可微模糊逻辑推理与因果推断（描述、解释、预测与反事实干预如 CLEVRER）。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87048" y="1947862"/>
            <a:ext cx="240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STEP 04 · §5.4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87048" y="2157412"/>
            <a:ext cx="252531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外部知识引入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87048" y="2490787"/>
            <a:ext cx="20193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多模态知识图谱（如 Visual Genome）与跨模态物理/社会常识推理（VCR）。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152650"/>
            <a:ext cx="5353050" cy="3352800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200275"/>
            <a:ext cx="5353050" cy="3257550"/>
          </a:xfrm>
          <a:prstGeom prst="roundRect">
            <a:avLst>
              <a:gd name="adj" fmla="val 35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438400"/>
            <a:ext cx="163115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486025"/>
            <a:ext cx="163115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CHALLENGE 4 &amp; 5: GENERATION (§6) &amp; TRANSFERENCE (§7)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挑战四与挑战五：多模态生成与跨模态知识迁移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9150" y="2400300"/>
            <a:ext cx="6375796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生成：按信息含量变化分类 (§6)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100" y="2447925"/>
            <a:ext cx="5676900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迁移：辅助稀缺或高噪主模态 (§7)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1550" y="28051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8700" y="281940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摘要 (Summarization - 信息压缩)：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抽取式或生成式提炼音视频图文中的最关键步骤与显著信息。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1550" y="33575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8700" y="3371850"/>
            <a:ext cx="4743450" cy="6858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转换 (Translation - 信息保持)：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跨模态等价映射（如图生文、文生图、语音生手势），需兼顾生成质量与跨模态语义一致性。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1550" y="41386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8700" y="415290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创作 (Creation - 信息扩展)：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从简短种子条件同步自回归生成高维多模态内容（视频+音频+文本）。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1550" y="46910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8700" y="470535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核心瓶颈：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自动评测指标缺乏普适可靠性；真实感生成伴随深度伪造 (Deepfakes) 与社会伦理风险。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67500" y="28527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4650" y="2867025"/>
            <a:ext cx="4743450" cy="6858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跨模态迁移 (Cross-modal Transfer)：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冻结预训练语言模型进行视觉前缀微调 (Prefix Tuning)、深层表征门控微调或多任务通用建模（Perceiver、Gato）。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67500" y="36337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24650" y="3648075"/>
            <a:ext cx="4743450" cy="6858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协同学习 (Co-learning)：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在训练阶段引入辅助模态共享中间表示空间或进行循环翻译，测试/部署时仅输入主模态（如仅用视频）。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67500" y="44148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24650" y="4429125"/>
            <a:ext cx="4743450" cy="6858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模型诱导 (Model Induction)：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保持各单模态模型独立，通过协同训练 (Co-training) 伪标签或协同正则化 (Co-regularization) 传递预测一致性。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4810125"/>
            <a:ext cx="11049000" cy="1628775"/>
          </a:xfrm>
          <a:prstGeom prst="roundRect">
            <a:avLst>
              <a:gd name="adj" fmla="val 701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1219200"/>
            <a:ext cx="3530649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1219200"/>
            <a:ext cx="3530649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89999" y="1219200"/>
            <a:ext cx="3530649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69509" y="5453062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36768" y="5453062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4027" y="5453062"/>
            <a:ext cx="17497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69509" y="5805487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36768" y="5805487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4027" y="5805487"/>
            <a:ext cx="17497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509" y="6157912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36768" y="6157912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4027" y="6157912"/>
            <a:ext cx="17497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5029200"/>
            <a:ext cx="148232" cy="1905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269509" y="5076825"/>
            <a:ext cx="4084290" cy="10953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269509" y="5076825"/>
          <a:ext cx="4084288" cy="1095375"/>
        </p:xfrm>
        <a:graphic>
          <a:graphicData uri="http://schemas.openxmlformats.org/drawingml/2006/table">
            <a:tbl>
              <a:tblPr/>
              <a:tblGrid>
                <a:gridCol w="1167258"/>
                <a:gridCol w="1167258"/>
                <a:gridCol w="1749772"/>
              </a:tblGrid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输入模态 A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输入模态 B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目标 Y = A XOR B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 / 1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 / 1 (相同)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 / 1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1 / 0 (不同)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1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CHALLENGE 6: QUANTIFICATION (§8)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挑战六：多模态模型的量化分析与机制诊断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1050" y="1428750"/>
            <a:ext cx="408390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6a. 异质性量化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1050" y="1762125"/>
            <a:ext cx="32067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评估各模态贡献度（Shapley 值）、单模态捷径偏见（如 VQA 语言偏见）与特有噪声拓扑鲁棒性。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40299" y="1428750"/>
            <a:ext cx="408390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6b. 关联与交互度量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40299" y="1762125"/>
            <a:ext cx="32067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通过输入扰动、反事实编辑及信息分解工具（EMAP、DIME、MultiViz）量化冗余、独有与协同效应。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99549" y="1428750"/>
            <a:ext cx="38924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6c. 学习与优化权衡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99549" y="1762125"/>
            <a:ext cx="32067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不同模态过拟合速度不一致导致联合训练困难；需权衡新增模态带来的精度收益与部署复杂度。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8200" y="5000625"/>
            <a:ext cx="8041044" cy="257175"/>
          </a:xfrm>
          <a:prstGeom prst="rect">
            <a:avLst/>
          </a:prstGeom>
          <a:noFill/>
        </p:spPr>
        <p:txBody>
          <a:bodyPr wrap="none" lIns="1482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lus Jakarta Sans"/>
              </a:rPr>
              <a:t>概念辨析与协同信息（XOR 理想教学算例）</a:t>
            </a:r>
            <a:endParaRPr sz="1500" b="1" i="0" u="none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8200" y="5334000"/>
            <a:ext cx="622175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注意：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此处的 Quantification 指</a:t>
            </a:r>
            <a:r>
              <a:rPr sz="1350" b="1" i="0" u="none">
                <a:solidFill>
                  <a:srgbClr val="1E293B"/>
                </a:solidFill>
                <a:latin typeface="Plus Jakarta Sans"/>
              </a:rPr>
              <a:t>经验与理论分析度量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，而非 INT8/INT4 模型参数压缩。右侧异或表中，单独看模态 A 或 B 准确率仅为 50%，联合观察则达 100%——说明单模态无预测力不代表联合无价值。但真实任务中需控制参数量与数据量，排除其它干扰解释。</a:t>
            </a:r>
            <a:endParaRPr sz="1350" b="0" i="0" u="none">
              <a:solidFill>
                <a:srgbClr val="1E293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5638800"/>
            <a:ext cx="11049000" cy="8001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71637"/>
            <a:ext cx="2430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02160" y="167163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1960" y="1671637"/>
            <a:ext cx="64085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386012"/>
            <a:ext cx="2430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02160" y="2386012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1960" y="2386012"/>
            <a:ext cx="64085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100387"/>
            <a:ext cx="2430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02160" y="310038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1960" y="3100387"/>
            <a:ext cx="64085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814762"/>
            <a:ext cx="2430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02160" y="3814762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1960" y="3814762"/>
            <a:ext cx="64085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529137"/>
            <a:ext cx="2430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02160" y="452913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1960" y="4529137"/>
            <a:ext cx="64085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5838825"/>
            <a:ext cx="133498" cy="171450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71500" y="1200150"/>
          <a:ext cx="11048999" cy="3343275"/>
        </p:xfrm>
        <a:graphic>
          <a:graphicData uri="http://schemas.openxmlformats.org/drawingml/2006/table">
            <a:tbl>
              <a:tblPr/>
              <a:tblGrid>
                <a:gridCol w="2430660"/>
                <a:gridCol w="2209800"/>
                <a:gridCol w="6408539"/>
              </a:tblGrid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后续前沿专题 (2024–2026)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对应主论文挑战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核心研究追问与技术演进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多模态大语言模型 (MLLM)</a:t>
                      </a:r>
                      <a:r>
                        <a:t>
</a:t>
                      </a:r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Yin et al., NSR 2024</a:t>
                      </a:r>
                      <a:endParaRPr sz="1050" b="0" i="0" u="none">
                        <a:solidFill>
                          <a:srgbClr val="64748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表示 · 对齐 · 迁移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视觉编码器通过连接器接入 LLM 后，是否真正保留了回答细粒度问题所需的空间与局部视觉细节？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多模态慢思考与推理</a:t>
                      </a:r>
                      <a:r>
                        <a:t>
</a:t>
                      </a:r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Bi et al., arXiv 2025</a:t>
                      </a:r>
                      <a:endParaRPr sz="1050" b="0" i="0" u="none">
                        <a:solidFill>
                          <a:srgbClr val="64748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推理 · 量化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引入强化学习后训练与测试时计算扩展 (Test-time Compute) 后，收益源于更准地读取画面，还是更好地组合证据？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多模态幻觉检测与评测</a:t>
                      </a:r>
                      <a:r>
                        <a:t>
</a:t>
                      </a:r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Chen et al., arXiv 2026</a:t>
                      </a:r>
                      <a:endParaRPr sz="1050" b="0" i="0" u="none">
                        <a:solidFill>
                          <a:srgbClr val="64748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生成 · 量化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严格区分“输入忠实度”（图中没有却说有）与“世界事实性”错误，避免单一总分掩盖真实缺陷。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统一理解与生成模型</a:t>
                      </a:r>
                      <a:r>
                        <a:t>
</a:t>
                      </a:r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Ma et al., ACL Findings 2026</a:t>
                      </a:r>
                      <a:endParaRPr sz="1050" b="0" i="0" u="none">
                        <a:solidFill>
                          <a:srgbClr val="64748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表示 · 生成 · 迁移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自回归与扩散统一架构共享表示与参数时，理解任务与生成任务之间是否实现了可复现的双向促进？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CRITICAL EVALUATION &amp; 2025–2026 FRONTIERS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综述评价及向 2025–2026 多模态大模型前沿的映射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0100" y="5810250"/>
            <a:ext cx="10687050" cy="457200"/>
          </a:xfrm>
          <a:prstGeom prst="rect">
            <a:avLst/>
          </a:prstGeom>
          <a:noFill/>
        </p:spPr>
        <p:txBody>
          <a:bodyPr wrap="square" lIns="1552872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 批判性阅读边界：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主论文公开 v2 更新于 2023 年，核心价值在于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提供跨越模型代际的分析语言与问题地图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（各挑战分类轴为科学问题，非互斥模块），不应将其直接当作 2026 年最新模型排行榜。</a:t>
            </a:r>
            <a:endParaRPr sz="1350" b="0" i="0" u="none">
              <a:solidFill>
                <a:srgbClr val="334155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943600"/>
            <a:ext cx="110490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133600"/>
            <a:ext cx="6103590" cy="2781300"/>
          </a:xfrm>
          <a:prstGeom prst="roundRect">
            <a:avLst>
              <a:gd name="adj" fmla="val 41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79890" y="2124075"/>
            <a:ext cx="4640609" cy="2800350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5943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419350"/>
            <a:ext cx="16311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540" y="2409825"/>
            <a:ext cx="163115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953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ACTIONABLE RESEARCH PLAN &amp; DISCUSSION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6858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研一诊断性实验方案与组会讨论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6105525"/>
            <a:ext cx="513717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感谢聆听 · 欢迎各位老师与同学批评指正 (Q &amp; A)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91808" y="6148387"/>
            <a:ext cx="510019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参考文献：Liang et al., ACM Computing Surveys 2024 (arXiv:2209.03430v2)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9150" y="2381250"/>
            <a:ext cx="7360880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可证伪实验设计：VQA 模型是否真正利用视觉证据？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27540" y="2371725"/>
            <a:ext cx="1427480" cy="253365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开放讨论问题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27540" y="2771775"/>
            <a:ext cx="42405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在我们课题组现有的多模态任务中，性能瓶颈究竟源于：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1550" y="27670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8700" y="2781300"/>
            <a:ext cx="549399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可证伪假设 H1：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模型在普通图文样本上准确率高，但在配对反事实图像（仅修改决定答案的颜色/数量/空间关系，问题不变）上显著下降。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1550" y="33194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8700" y="3333750"/>
            <a:ext cx="5493990" cy="6858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四组严格对照：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① 原图+原问题；② 反事实图+原问题（检验视觉敏感性）；③ 仅问题无图（估计语言先验）；④ 无关背景扰动图+原问题（检验稳定性）。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1550" y="41005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28700" y="4114800"/>
            <a:ext cx="549399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核心判读指标：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成对样本同时答对率 (Pairwise Accuracy)，辅以 Bootstrap 置信区间与人工编辑痕迹核验。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79940" y="33670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37090" y="3381375"/>
            <a:ext cx="4754909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1.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信息缺失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（需要引入新传感器模态）？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79940" y="36909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37090" y="3705225"/>
            <a:ext cx="4754909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2.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对齐错误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（时空或细粒度语义未对应）？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79940" y="40147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37090" y="4029075"/>
            <a:ext cx="4754909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3.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捷径依赖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（模型忽略了弱势模态证据）？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79940" y="43386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37090" y="4352925"/>
            <a:ext cx="4754909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4.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评测盲区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（现有指标无法反映真实提升）？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5251</Words>
  <Application>WPS 演示</Application>
  <PresentationFormat>On-screen Show (4:3)</PresentationFormat>
  <Paragraphs>426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Plus Jakarta Sans</vt:lpstr>
      <vt:lpstr>FFont-Family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leo</cp:lastModifiedBy>
  <cp:revision>2</cp:revision>
  <dcterms:created xsi:type="dcterms:W3CDTF">2013-01-27T09:14:00Z</dcterms:created>
  <dcterms:modified xsi:type="dcterms:W3CDTF">2026-10-22T16:06:19Z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2052-12.1.0.29158</vt:lpwstr>
  </property>
  <property fmtid="{D5CDD505-2E9C-101B-9397-08002B2CF9AE}" pid="3" name="ICV">
    <vt:lpwstr>1E57DB66A9274B11B7617F01E1A76001_12</vt:lpwstr>
  </property>
</Properties>
</file>