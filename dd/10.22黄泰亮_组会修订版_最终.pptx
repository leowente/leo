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screen4x3"/>
  <p:notesSz cx="6858000" cy="9144000"/>
  <p:embeddedFontLs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Slides/_rels/notesSlide1.xml.rels>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Relationships xmlns="http://schemas.openxmlformats.org/package/2006/relationships"><Relationship Id="rId1" Type="http://schemas.openxmlformats.org/officeDocument/2006/relationships/slide" Target="../slides/slide7.xml"/></Relationships>
</file>

<file path=ppt/notesSlides/_rels/notesSlide8.xml.rels><Relationships xmlns="http://schemas.openxmlformats.org/package/2006/relationships"><Relationship Id="rId1" Type="http://schemas.openxmlformats.org/officeDocument/2006/relationships/slide" Target="../slides/slide8.xml"/></Relationships>
</file>

<file path=ppt/notesSlides/_rels/notesSlide9.xml.rels><Relationships xmlns="http://schemas.openxmlformats.org/package/2006/relationships"><Relationship Id="rId1" Type="http://schemas.openxmlformats.org/officeDocument/2006/relationships/slide" Target="../slides/slide9.xml"/></Relationships>
</file>

<file path=ppt/notesSlides/_rels/notesSlide10.xml.rels><Relationships xmlns="http://schemas.openxmlformats.org/package/2006/relationships"><Relationship Id="rId1" Type="http://schemas.openxmlformats.org/officeDocument/2006/relationships/slide" Target="../slides/slide10.xml"/></Relationships>
</file>

<file path=ppt/notesSlides/_rels/notesSlide11.xml.rels><Relationships xmlns="http://schemas.openxmlformats.org/package/2006/relationships"><Relationship Id="rId1" Type="http://schemas.openxmlformats.org/officeDocument/2006/relationships/slide" Target="../slides/slide11.xml"/></Relationships>
</file>

<file path=ppt/notesSlides/_rels/notesSlide12.xml.rels><Relationships xmlns="http://schemas.openxmlformats.org/package/2006/relationships"><Relationship Id="rId1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开场：本文是一篇建立多模态机器学习问题框架的综述，不是提出单一模型的实验论文。阅读版本为 arXiv v2（2023）；期刊发表于 ACM Computing Surveys（2024）。汇报重点是三项原则、六类挑战及其对选题的帮助。</a:t>
            </a:r>
          </a:p>
          <a:p>
            <a:r>
              <a:t>来源：https://arxiv.org/abs/2209.03430v2；章节对应见页面标题。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多模态属于人工智能与机器学习的研究领域，研究如何利用文本、图像、声音等异质信息。多模态大语言模型是其中一类实现，并不等于整个领域。阀门案例为教学例子，不是原论文实验。区分输入包含多种模态、架构允许交互、模型实际利用有效交互。</a:t>
            </a:r>
          </a:p>
          <a:p>
            <a:r>
              <a:t>来源：https://arxiv.org/abs/2209.03430v2；章节对应见页面标题。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异质性描述模态之间的差异，连接描述统计或语义联系，交互描述围绕具体任务的联合信息和作用。三项原则不是三个顺序模块。共现不能直接证明因果，联合输入也不保证产生性能增益。</a:t>
            </a:r>
          </a:p>
          <a:p>
            <a:r>
              <a:t>来源：https://arxiv.org/abs/2209.03430v2；章节对应见页面标题。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冗余、独有和协同都应相对于目标任务讨论。同一组输入在不同任务中可呈现不同的信息结构。两路证据一致可能是共同错误，置信度需要校准。只有单路不足而联合能补足任务证据时，才适合说明协同。</a:t>
            </a:r>
          </a:p>
          <a:p>
            <a:r>
              <a:t>来源：https://arxiv.org/abs/2209.03430v2；章节对应见页面标题。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六类挑战是组织研究问题的分类轴，不是互斥模块，也不是六步流水线。一项具体工作可以同时涉及表示、对齐、推理、生成、迁移和量化分析。后面按问题逐项解释。</a:t>
            </a:r>
          </a:p>
          <a:p>
            <a:r>
              <a:t>来源：https://arxiv.org/abs/2209.03430v2；章节对应见页面标题。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融合形成联合表示；协调保留多路表示并施加关系约束；分解拆出共享、私有或更细粒度因素。CCA 最大化投影相关性。EMAP 是用于事后分析加性贡献的工具，不宜当成通用细粒度分解算法。公式仅为加性和乘性交互的示意；高阶张量可能带来维度与计算增长。</a:t>
            </a:r>
          </a:p>
          <a:p>
            <a:r>
              <a:t>来源：https://arxiv.org/abs/2209.03430v2；章节对应见页面标题。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对齐回答跨模态元素如何对应。离散对齐、连续对齐与上下文对齐关注不同设定；最优传输是可选方法之一。注意力权重不是自动成立的因果解释。人追狗与狗追人的例子为教学例子，可联系 Winoground 的组合关系诊断思路。</a:t>
            </a:r>
          </a:p>
          <a:p>
            <a:r>
              <a:t>来源：https://arxiv.org/abs/2209.03430v2；章节对应见页面标题。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结构、中间概念、推断、外部知识是组合推理的四个分析方面，不是所有系统都必须顺序执行的固定步骤。语言解释看似合理，不等于推理忠实使用图像证据；可用证据替换和反事实问题进一步检验。</a:t>
            </a:r>
          </a:p>
          <a:p>
            <a:r>
              <a:t>来源：https://arxiv.org/abs/2209.03430v2；章节对应见页面标题。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摘要、转换、创作按内容变化组织生成任务，不是严格的香农信息量守恒公式。图文转换不保证无损，生成也不必都使用自回归模型。迁移关注知识如何跨模态或任务发挥作用，部署时是否需要辅助模态取决于具体方法。</a:t>
            </a:r>
          </a:p>
          <a:p>
            <a:r>
              <a:t>来源：https://arxiv.org/abs/2209.03430v2；章节对应见页面标题。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这里的 Quantification 是分析与测量，不是 INT8 等参数量化。XOR 例子假设两位相互独立且均匀分布：只观察一位的最优准确率为 50%，同时观察两位为 100%。这是理论算例，不是训练模型的实验结果。真实比较须控制数据、容量及评测条件。</a:t>
            </a:r>
          </a:p>
          <a:p>
            <a:r>
              <a:t>来源：https://arxiv.org/abs/2209.03430v2；章节对应见页面标题。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论文价值在于统一问题语言与分析框架，局限在于它不能替代最新模型、数据集和实验的专项阅读。本页是将框架应用于多模态大模型等问题的讨论，不能把这些问题表述为原文已证明的结论，也不是最新进展排行榜。</a:t>
            </a:r>
          </a:p>
          <a:p>
            <a:r>
              <a:t>来源：https://arxiv.org/abs/2209.03430v2；章节对应见页面标题。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这是拟议试验，不是原文实验，也没有现成结果或新颖性保证。构造原图与关键证据编辑图，核验新答案，同时保留仅问题与无关背景编辑对照。报告两组准确率、成对同时答对率和置信区间；注意编辑伪影、分布外输入和模型对缺图输入的适配。收尾请讨论本组任务最需要哪类证据与诊断。</a:t>
            </a:r>
          </a:p>
          <a:p>
            <a:r>
              <a:t>来源：https://arxiv.org/abs/2209.03430v2；章节对应见页面标题。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/><Relationship Id="rIdSpeakerNotes" Type="http://schemas.openxmlformats.org/officeDocument/2006/relationships/notesSlide" Target="../notesSlides/notesSlide1.xml"/></Relationships>
</file>

<file path=ppt/slides/_rels/slide2.xml.rels>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SpeakerNotes" Type="http://schemas.openxmlformats.org/officeDocument/2006/relationships/notesSlide" Target="../notesSlides/notesSlide2.xml"/></Relationships>
</file>

<file path=ppt/slides/_rels/slide3.xml.rels>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SpeakerNotes" Type="http://schemas.openxmlformats.org/officeDocument/2006/relationships/notesSlide" Target="../notesSlides/notesSlide3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/><Relationship Id="rIdSpeakerNotes" Type="http://schemas.openxmlformats.org/officeDocument/2006/relationships/notesSlide" Target="../notesSlides/notesSlide4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7.xml"/><Relationship Id="rIdSpeakerNotes" Type="http://schemas.openxmlformats.org/officeDocument/2006/relationships/notesSlide" Target="../notesSlides/notesSlide5.xml"/></Relationships>
</file>

<file path=ppt/slides/_rels/slide6.xml.rels>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SpeakerNotes" Type="http://schemas.openxmlformats.org/officeDocument/2006/relationships/notesSlide" Target="../notesSlides/notesSlide6.xml"/></Relationships>
</file>

<file path=ppt/slides/_rels/slide7.xml.rels>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Relationship Id="rIdSpeakerNotes" Type="http://schemas.openxmlformats.org/officeDocument/2006/relationships/notesSlide" Target="../notesSlides/notesSlide7.xml"/></Relationships>
</file>

<file path=ppt/slides/_rels/slide8.xml.rels>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Relationship Id="rIdSpeakerNotes" Type="http://schemas.openxmlformats.org/officeDocument/2006/relationships/notesSlide" Target="../notesSlides/notesSlide8.xml"/></Relationships>
</file>

<file path=ppt/slides/_rels/slide9.xml.rels>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Relationship Id="rIdSpeakerNotes" Type="http://schemas.openxmlformats.org/officeDocument/2006/relationships/notesSlide" Target="../notesSlides/notesSlide9.xml"/></Relationships>
</file>

<file path=ppt/slides/_rels/slide10.xml.rels>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Relationship Id="rIdSpeakerNotes" Type="http://schemas.openxmlformats.org/officeDocument/2006/relationships/notesSlide" Target="../notesSlides/notesSlide10.xml"/></Relationships>
</file>

<file path=ppt/slides/_rels/slide11.xml.rels>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Relationship Id="rIdSpeakerNotes" Type="http://schemas.openxmlformats.org/officeDocument/2006/relationships/notesSlide" Target="../notesSlides/notesSlide11.xml"/></Relationships>
</file>

<file path=ppt/slides/_rels/slide12.xml.rels>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Relationship Id="rIdSpeakerNotes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24362"/>
            <a:ext cx="685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862137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论文精读与组会汇报 · 阅读版本 arXiv v2（2023）</a:t>
            </a:r>
            <a:endParaRPr sz="12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2214562"/>
            <a:ext cx="106013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Plus Jakarta Sans"/>
              </a:rPr>
              <a:t>多模态机器学习基础与趋势：</a:t>
            </a:r>
            <a:r>
              <a:t>
</a:t>
            </a:r>
            <a:r>
              <a:rPr sz="3600" b="1" i="0" u="none">
                <a:solidFill>
                  <a:srgbClr val="0F172A"/>
                </a:solidFill>
                <a:latin typeface="Plus Jakarta Sans"/>
              </a:rPr>
              <a:t> 原则、挑战与开放问题</a:t>
            </a:r>
            <a:endParaRPr sz="36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3624262"/>
            <a:ext cx="88582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Plus Jakarta Sans"/>
              </a:rPr>
              <a:t>Foundations &amp; Trends in Multimodal Machine Learning: Principles, Challenges, and Open Questions</a:t>
            </a:r>
            <a:endParaRPr sz="16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4767262"/>
            <a:ext cx="11582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作者：Paul Pu Liang、Amir Zadeh、Louis-Philippe Morency（CMU）  汇报人：黄泰亮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763642" y="2209800"/>
            <a:ext cx="4856857" cy="2838450"/>
          </a:xfrm>
          <a:prstGeom prst="roundRect">
            <a:avLst>
              <a:gd name="adj" fmla="val 40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181225"/>
            <a:ext cx="5849242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4638675"/>
            <a:ext cx="5849242" cy="876300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0342" y="2733675"/>
            <a:ext cx="163115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447925"/>
            <a:ext cx="16311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4876800"/>
            <a:ext cx="133498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OVERVIEW &amp; CORE THESIS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609600"/>
            <a:ext cx="367284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多模态是什么 本文研究什么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30342" y="2695575"/>
            <a:ext cx="5161657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贯穿教学案例：实验视频分析</a:t>
            </a:r>
            <a:endParaRPr sz="16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30342" y="3095625"/>
            <a:ext cx="516165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任务提问：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“操作者是否先关闭阀门，再拆下管道？”</a:t>
            </a:r>
            <a:endParaRPr sz="135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" y="2409825"/>
            <a:ext cx="1005840" cy="253365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中心论点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050" y="4848225"/>
            <a:ext cx="5525392" cy="415290"/>
          </a:xfrm>
          <a:prstGeom prst="rect">
            <a:avLst/>
          </a:prstGeom>
          <a:noFill/>
        </p:spPr>
        <p:txBody>
          <a:bodyPr wrap="square" lIns="13349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多模态学习利用图像、声音、文本等异质信息及其联系。本文是问题框架综述，核心贡献是三项原则与六类挑战，不是单一新模型。</a:t>
            </a:r>
            <a:endParaRPr sz="1350" b="1" i="0" u="none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82742" y="34623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39892" y="3476625"/>
            <a:ext cx="4952107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视觉画面：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提供手部动作与阀门状态空间变化。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82742" y="37861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39892" y="3800475"/>
            <a:ext cx="4952107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音频信号：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提供环境提示音与气流/设备机械声。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82742" y="41100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39892" y="4124325"/>
            <a:ext cx="4209157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文本字幕：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提供操作说明，但口述时长与实际动作未必同步。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82742" y="46624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39892" y="4676775"/>
            <a:ext cx="4952107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核心难点：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跨模态时序对齐与多步先后关系推理。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2500" y="27955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9650" y="2809875"/>
            <a:ext cx="5277742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超越数据堆叠：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不只是“如何输入更多模态”，而是回答不同模态为何有效。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2500" y="33480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9650" y="3362325"/>
            <a:ext cx="6478116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机制与归因：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哪些信息应该共享？模型是否真正利用了跨模态证据？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52500" y="36718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9650" y="3686175"/>
            <a:ext cx="5277742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代价与收益权衡：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性能提升能否抵消多源异构噪声与额外的计算成本？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428875"/>
            <a:ext cx="3505200" cy="2838450"/>
          </a:xfrm>
          <a:prstGeom prst="roundRect">
            <a:avLst>
              <a:gd name="adj" fmla="val 53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428875"/>
            <a:ext cx="3505200" cy="2838450"/>
          </a:xfrm>
          <a:prstGeom prst="roundRect">
            <a:avLst>
              <a:gd name="adj" fmla="val 53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15300" y="2428875"/>
            <a:ext cx="3505200" cy="2838450"/>
          </a:xfrm>
          <a:prstGeom prst="roundRect">
            <a:avLst>
              <a:gd name="adj" fmla="val 53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762250"/>
            <a:ext cx="266848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762250"/>
            <a:ext cx="266848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100" y="2762250"/>
            <a:ext cx="266848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FOUNDATIONAL PRINCIPLES (§2)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多模态研究的三项基本原则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6300" y="3286125"/>
            <a:ext cx="38004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1. 异质性 (Heterogeneity)</a:t>
            </a:r>
            <a:endParaRPr sz="18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6300" y="3705225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不同模态在基本元素、分布、结构、信息量、噪声和相关性上存在天然差异。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6300" y="4505325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lus Jakarta Sans"/>
              </a:rPr>
              <a:t>向量化仅统一接口，未消除采样率与粒度差异。</a:t>
            </a:r>
            <a:endParaRPr sz="1350" b="0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48200" y="3286125"/>
            <a:ext cx="38004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2. 连接 (Connections)</a:t>
            </a:r>
            <a:endParaRPr sz="18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48200" y="3705225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模态间可能共享信息，存在统计关联、时空依赖、语义对应或功能关系。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48200" y="4505325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lus Jakarta Sans"/>
              </a:rPr>
              <a:t>共同出现并不自动证明存在因果关系。</a:t>
            </a:r>
            <a:endParaRPr sz="1350" b="0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20100" y="3286125"/>
            <a:ext cx="37719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3. 交互性 (Interactions)</a:t>
            </a:r>
            <a:endParaRPr sz="18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20100" y="3705225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联合使用模态时，任务相关信息可表现为冗余、独有或协同，未必总产生新信息。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20100" y="4505325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Plus Jakarta Sans"/>
              </a:rPr>
              <a:t>既要分析数据中的交互，也要验证模型是否利用了它。</a:t>
            </a:r>
            <a:endParaRPr sz="1350" b="0" i="0" u="none">
              <a:solidFill>
                <a:srgbClr val="2563E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124075"/>
            <a:ext cx="5353050" cy="3448050"/>
          </a:xfrm>
          <a:prstGeom prst="roundRect">
            <a:avLst>
              <a:gd name="adj" fmla="val 33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286000"/>
            <a:ext cx="5353050" cy="3124200"/>
          </a:xfrm>
          <a:prstGeom prst="roundRect">
            <a:avLst>
              <a:gd name="adj" fmla="val 36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HETEROGENEITY, CONNECTIONS &amp; INTERACTIONS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三大原则的细粒度解析：维度与信息分解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9150" y="2371725"/>
            <a:ext cx="637579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异质性的六个核心维度 (§2.1)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15100" y="2533650"/>
            <a:ext cx="56769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连接与任务相关信息 (§2.2–2.3)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1550" y="27765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8700" y="2790825"/>
            <a:ext cx="5810250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元素表征：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文字 token、图像像素或区域、图节点等基本单元。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1550" y="31003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8700" y="3114675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分布特征：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文本词频遵循 Zipf 定律，传感器信号具不同采样密度。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1550" y="36528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8700" y="3667125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底层结构：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语言具层次语法结构，图像具空间结构，音频具时序结构。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1550" y="42052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8700" y="4219575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信息与噪声：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各模态信息熵不同；存在视觉遮挡、语音混响等异构噪声。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1550" y="47577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8700" y="4772025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任务相关性：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特定模态在不同推理阶段与上下文中的有用程度不同。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67500" y="29384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4650" y="295275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统计关联与语义关联：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共现、时空依赖与语义对应；因果关系需额外证据。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67500" y="34909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24650" y="350520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冗余信息 (Redundancy)：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字幕与画面都提示阀门关闭；一致不保证正确。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67500" y="40433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24650" y="405765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独有信息 (Uniqueness)：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仅音频记录了设备警报声，强行抹平差异将丢失关键证据。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67500" y="45958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24650" y="461010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协同信息 (Synergy)：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仅当单路证据不足、联合后才能确定答案时，才体现任务中的协同。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914525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39280" y="191452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32970" y="191452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26660" y="1914525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628900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39280" y="2628900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32970" y="2628900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26660" y="2628900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343275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9280" y="334327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32970" y="334327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26660" y="3343275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057650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9280" y="4057650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32970" y="4057650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26660" y="4057650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772025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39280" y="477202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32970" y="477202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26660" y="4772025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" y="5486400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39280" y="5486400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32970" y="5486400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26660" y="5486400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1500" y="6200775"/>
            <a:ext cx="1767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39280" y="620077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32970" y="6200775"/>
            <a:ext cx="30936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26660" y="6200775"/>
            <a:ext cx="3093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71500" y="1443037"/>
          <a:ext cx="11048999" cy="4772025"/>
        </p:xfrm>
        <a:graphic>
          <a:graphicData uri="http://schemas.openxmlformats.org/drawingml/2006/table">
            <a:tbl>
              <a:tblPr/>
              <a:tblGrid>
                <a:gridCol w="1767780"/>
                <a:gridCol w="3093690"/>
                <a:gridCol w="3093690"/>
                <a:gridCol w="3093839"/>
              </a:tblGrid>
              <a:tr h="68171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核心挑战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子挑战分类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核心科学问题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贯穿案例中的具体对应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8171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1. 表示 (§3)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融合 (Fusion) · 协调 (Coordination) · 分解 (Fission)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如何保留共同信息与模态特有信息？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提取动作、设备声与字幕的特征表示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171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2. 对齐 (§4)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离散对齐 · 连续对齐 · 上下文化表示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哪些元素在时空或语义上对应？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将“关闭阀门”字幕与视频操作帧对齐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171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3. 推理 (§5)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结构建模 · 中间概念 · 推断范式 · 外部知识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如何多步组合多模态证据得出结论？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定位两事件时间区间并比较先后顺序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171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4. 生成 (§6)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摘要 (减少) · 转换 (保持) · 创作 (扩展)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如何生成与输入条件一致的内容？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生成实验关键步骤摘要或操作解释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171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5. 迁移 (§7)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跨模态迁移 · 协同学习 · 模型诱导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富资源模态如何辅助噪声或稀缺模态？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训练时用字幕辅助部署时的纯视频识别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1723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6. 量化分析 (§8)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异质性量化 · 关联与交互度量 · 学习过程分析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模型实际利用了哪些模态信息？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遮挡关键动作或替换字幕后复测行为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TAXONOMY OF 6 CORE CHALLENGES (TABLE 1)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多模态机器学习的六大核心挑战研究地图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5905500"/>
            <a:ext cx="11049000" cy="533400"/>
          </a:xfrm>
          <a:prstGeom prst="roundRect">
            <a:avLst>
              <a:gd name="adj" fmla="val 2142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1219200"/>
            <a:ext cx="3530649" cy="24765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1219200"/>
            <a:ext cx="3530649" cy="24765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89999" y="1219200"/>
            <a:ext cx="3530649" cy="24765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2679" y="6081712"/>
            <a:ext cx="3514278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903" y="6138862"/>
            <a:ext cx="478631" cy="11028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485900"/>
            <a:ext cx="16311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349" y="1485900"/>
            <a:ext cx="16311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599" y="1485900"/>
            <a:ext cx="16311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CHALLENGE 1: REPRESENTATION (§3)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挑战一：多模态表示学习的三种范式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" y="6057900"/>
            <a:ext cx="2786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加性与乘性双线性交互示意：</a:t>
            </a:r>
            <a:endParaRPr sz="1350" b="1" i="0" u="none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70687" y="6072187"/>
            <a:ext cx="5021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（注：高阶张量 维度呈指数增长，常需低秩分解近似）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" y="1447800"/>
            <a:ext cx="4033902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1a. 表示融合 (Fusion)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0100" y="1828800"/>
            <a:ext cx="3168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目标：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整合多源特征，减少独立表示数量。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9349" y="1447800"/>
            <a:ext cx="4033902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1b. 表示协调 (Coordination)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59349" y="1828800"/>
            <a:ext cx="3168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目标：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保留多路表示，并约束它们的关系。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18599" y="1447800"/>
            <a:ext cx="3873400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1c. 表示分解 (Fission)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18599" y="1828800"/>
            <a:ext cx="3168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目标：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拆分共享与私有因素，刻画内部结构。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2500" y="23479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9650" y="2362200"/>
            <a:ext cx="2959149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抽象融合：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加性、乘性、张量或门控交互。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2500" y="29003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9650" y="2914650"/>
            <a:ext cx="2959149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原始融合：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早期直接拼接或输入统一 Transformer。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11749" y="23479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68899" y="2362200"/>
            <a:ext cx="2959149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强协调：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拉近匹配图文，保留各自表示。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11749" y="29003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68899" y="2914650"/>
            <a:ext cx="2959149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部分协调：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相关性、顺序或层级约束。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70999" y="23479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28149" y="2362200"/>
            <a:ext cx="2959149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模态级解耦：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分离模态独有与跨模态共享特征。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70999" y="29003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28149" y="2914650"/>
            <a:ext cx="2959149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细粒度解耦：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将表示进一步拆为细粒度因素。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681162"/>
            <a:ext cx="617785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3157537"/>
            <a:ext cx="617785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4633912"/>
            <a:ext cx="6177855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54155" y="2231528"/>
            <a:ext cx="4566344" cy="1585168"/>
          </a:xfrm>
          <a:prstGeom prst="roundRect">
            <a:avLst>
              <a:gd name="adj" fmla="val 72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54155" y="3988147"/>
            <a:ext cx="4566344" cy="1438275"/>
          </a:xfrm>
          <a:prstGeom prst="roundRect">
            <a:avLst>
              <a:gd name="adj" fmla="val 794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705" y="2764928"/>
            <a:ext cx="3015108" cy="32786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705" y="4226272"/>
            <a:ext cx="148232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CHALLENGE 2: ALIGNMENT (§4)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挑战二：多模态对齐的粒度与结构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1050" y="1852612"/>
            <a:ext cx="755836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2a. 离散对齐 (Discrete Alignment)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1050" y="2166937"/>
            <a:ext cx="585400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处理边界明确的离散单元（如单词与物体框）。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局部对齐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给定配对学相似度；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全局对齐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关注整体匹配结构，最优传输是可选方法之一。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050" y="3328987"/>
            <a:ext cx="755836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2b. 连续对齐 (Continuous Alignment)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1050" y="3643312"/>
            <a:ext cx="585400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处理无明显语义边界的连续信号（语音、时序、MRI）。包含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连续规整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（DTW、对抗对齐）与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模态分割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（对连续信号进行分段或离散化）。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1050" y="4805362"/>
            <a:ext cx="755836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2c. 上下文化表示 (Contextualized Representations)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1050" y="5119687"/>
            <a:ext cx="585400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利用对齐关系动态更新特征：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联合无向对齐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（拼接后全自注意力）、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跨模态有向对齐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（双向交叉注意力，如 ViLBERT）与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图对齐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（GNN 建模非序列拓扑）。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63705" y="2441078"/>
            <a:ext cx="492829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跨模态注意力软对齐机制：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63705" y="3207097"/>
            <a:ext cx="424249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注：注意力权重可辅助视觉定位，但高权重不直接等价于忠实推理或因果关系。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63705" y="4197697"/>
            <a:ext cx="4928294" cy="257175"/>
          </a:xfrm>
          <a:prstGeom prst="rect">
            <a:avLst/>
          </a:prstGeom>
          <a:noFill/>
        </p:spPr>
        <p:txBody>
          <a:bodyPr wrap="none" lIns="1482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lus Jakarta Sans"/>
              </a:rPr>
              <a:t>组会反例思考：人追狗 vs. 狗追人</a:t>
            </a:r>
            <a:endParaRPr sz="1500" b="1" i="0" u="none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63705" y="4531072"/>
            <a:ext cx="424249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Plus Jakarta Sans"/>
              </a:rPr>
              <a:t>仅识别“人”和“狗”，可能忽略谁追谁。还需要检验</a:t>
            </a:r>
            <a:r>
              <a:rPr sz="1350" b="1" i="0" u="none">
                <a:solidFill>
                  <a:srgbClr val="1E293B"/>
                </a:solidFill>
                <a:latin typeface="Plus Jakarta Sans"/>
              </a:rPr>
              <a:t>角色、动作关系与空间位置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的组合对齐。此为教学例子，可参考 Winoground 的诊断思路。</a:t>
            </a:r>
            <a:endParaRPr sz="1350" b="0" i="0" u="none">
              <a:solidFill>
                <a:srgbClr val="1E293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4652962"/>
            <a:ext cx="11049000" cy="1266825"/>
          </a:xfrm>
          <a:prstGeom prst="roundRect">
            <a:avLst>
              <a:gd name="adj" fmla="val 902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1852612"/>
            <a:ext cx="2343150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3499" y="1852612"/>
            <a:ext cx="2343150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75499" y="1738312"/>
            <a:ext cx="234315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77498" y="1738312"/>
            <a:ext cx="234315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5150" y="2562225"/>
            <a:ext cx="177849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149" y="2562225"/>
            <a:ext cx="177849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149" y="2562225"/>
            <a:ext cx="177849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910137"/>
            <a:ext cx="148232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CHALLENGE 3: REASONING (§5)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挑战三：多模态推理的四个组成要素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" y="4881562"/>
            <a:ext cx="11391900" cy="257175"/>
          </a:xfrm>
          <a:prstGeom prst="rect">
            <a:avLst/>
          </a:prstGeom>
          <a:noFill/>
        </p:spPr>
        <p:txBody>
          <a:bodyPr wrap="none" lIns="1482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lus Jakarta Sans"/>
              </a:rPr>
              <a:t>组会案例诊断：如何拆解推理链条中的错误来源？</a:t>
            </a:r>
            <a:endParaRPr sz="1500" b="1" i="0" u="none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" y="5233987"/>
            <a:ext cx="1068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Plus Jakarta Sans"/>
              </a:rPr>
              <a:t>实验视频推理链：</a:t>
            </a:r>
            <a:r>
              <a:rPr sz="1350" b="1" i="0" u="none">
                <a:solidFill>
                  <a:srgbClr val="1E293B"/>
                </a:solidFill>
                <a:latin typeface="Plus Jakarta Sans"/>
              </a:rPr>
              <a:t>定位关闭阀门事件 → 定位拆管事件 → 确定各自时间区间 → 比较先后顺序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。若第一步将“正在拧阀门”误判为“已关闭”（感知错误），后续逻辑推理即使完全正确也会得出错误答案。且模型生成流畅的自然语言推理链（CoT），并不代表其过程忠实于视觉画面。</a:t>
            </a:r>
            <a:endParaRPr sz="1350" b="0" i="0" u="none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1050" y="2062162"/>
            <a:ext cx="240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ASPECT 01 · §5.1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1050" y="2271712"/>
            <a:ext cx="252531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结构建模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1050" y="2605087"/>
            <a:ext cx="2019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确定组合所依据的层级、时间或交互结构，也可从数据学习结构。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83049" y="2062162"/>
            <a:ext cx="240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ASPECT 02 · §5.2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83049" y="2271712"/>
            <a:ext cx="252531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中间概念表征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83049" y="2605087"/>
            <a:ext cx="2019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用注意力、离散符号或语言表达中间概念，解释是否忠实仍需验证。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5049" y="1947862"/>
            <a:ext cx="240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ASPECT 03 · §5.3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5049" y="2157412"/>
            <a:ext cx="252531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推断范式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5049" y="2490787"/>
            <a:ext cx="20193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讨论逻辑与因果推断，检验解释、预测及反事实能力。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87048" y="1947862"/>
            <a:ext cx="2405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ASPECT 04 · §5.4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87048" y="2157412"/>
            <a:ext cx="252531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外部知识引入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87048" y="2490787"/>
            <a:ext cx="20193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引入知识图谱或常识，补充当前输入中缺少的信息。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2152650"/>
            <a:ext cx="5353050" cy="3352800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200275"/>
            <a:ext cx="5353050" cy="3257550"/>
          </a:xfrm>
          <a:prstGeom prst="roundRect">
            <a:avLst>
              <a:gd name="adj" fmla="val 35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438400"/>
            <a:ext cx="163115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486025"/>
            <a:ext cx="163115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CHALLENGE 4 &amp; 5: GENERATION (§6) &amp; TRANSFERENCE (§7)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挑战四与挑战五：多模态生成与跨模态知识迁移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9150" y="2400300"/>
            <a:ext cx="6375796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生成：按内容变化组织任务 (§6)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5100" y="2447925"/>
            <a:ext cx="5676900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迁移：辅助稀缺或高噪主模态 (§7)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1550" y="28051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8700" y="281940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摘要 (Summarization - 信息压缩)：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抽取式或生成式提炼音视频图文中的最关键步骤与显著信息。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1550" y="33575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8700" y="3371850"/>
            <a:ext cx="4743450" cy="6858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转换 (Translation - 信息保持)：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跨模态转换，如图生文与文生图；关注语义一致性，不保证信息无损。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1550" y="41386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8700" y="415290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创作 (Creation - 信息扩展)：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按条件生成内容，保持跨模态连贯与同步。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1550" y="46910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8700" y="4705350"/>
            <a:ext cx="474345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核心瓶颈：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自动评测指标缺乏普适可靠性；真实感生成伴随深度伪造 (Deepfakes) 与社会伦理风险。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67500" y="28527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4650" y="2867025"/>
            <a:ext cx="4743450" cy="6858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跨模态迁移 (Cross-modal Transfer)：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调适已有模型，将辅助模态的知识用于目标任务。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67500" y="36337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24650" y="3648075"/>
            <a:ext cx="4743450" cy="6858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协同学习 (Co-learning)：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通过共享或协调表示、跨模态生成传递知识；部署时可仅保留主模态。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67500" y="44148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24650" y="4429125"/>
            <a:ext cx="4743450" cy="6858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模型诱导 (Model Induction)：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保留独立模型，通过伪标签或一致性约束传递知识。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4810125"/>
            <a:ext cx="11049000" cy="1628775"/>
          </a:xfrm>
          <a:prstGeom prst="roundRect">
            <a:avLst>
              <a:gd name="adj" fmla="val 701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1219200"/>
            <a:ext cx="3530649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1219200"/>
            <a:ext cx="3530649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89999" y="1219200"/>
            <a:ext cx="3530649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69509" y="5453062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36768" y="5453062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4027" y="5453062"/>
            <a:ext cx="17497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69509" y="5805487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36768" y="5805487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4027" y="5805487"/>
            <a:ext cx="17497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509" y="6157912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36768" y="6157912"/>
            <a:ext cx="116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4027" y="6157912"/>
            <a:ext cx="17497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5029200"/>
            <a:ext cx="148232" cy="1905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269509" y="5076825"/>
            <a:ext cx="4084290" cy="10953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269509" y="5076825"/>
          <a:ext cx="4084288" cy="1095375"/>
        </p:xfrm>
        <a:graphic>
          <a:graphicData uri="http://schemas.openxmlformats.org/drawingml/2006/table">
            <a:tbl>
              <a:tblPr/>
              <a:tblGrid>
                <a:gridCol w="1167258"/>
                <a:gridCol w="1167258"/>
                <a:gridCol w="1749772"/>
              </a:tblGrid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输入模态 A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输入模态 B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目标 Y = A XOR B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 / 1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 / 1 (相同)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 / 1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1 / 0 (不同)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1</a:t>
                      </a:r>
                      <a:endParaRPr sz="1350" b="1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CHALLENGE 6: QUANTIFICATION (§8)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挑战六：多模态模型的量化分析与机制诊断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1050" y="1428750"/>
            <a:ext cx="408390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6a. 异质性量化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1050" y="1762125"/>
            <a:ext cx="32067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评估各模态贡献度（Shapley 值）、单模态捷径偏见（如 VQA 语言偏见）与特有噪声拓扑鲁棒性。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40299" y="1428750"/>
            <a:ext cx="408390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6b. 关联与交互度量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40299" y="1762125"/>
            <a:ext cx="32067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通过扰动、诊断数据和分析工具探查连接与交互；各工具测量对象不同。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99549" y="1428750"/>
            <a:ext cx="38924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6c. 学习与优化权衡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99549" y="1762125"/>
            <a:ext cx="32067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不同模态过拟合速度不一致导致联合训练困难；需权衡新增模态带来的精度收益与部署复杂度。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8200" y="5000625"/>
            <a:ext cx="8041044" cy="257175"/>
          </a:xfrm>
          <a:prstGeom prst="rect">
            <a:avLst/>
          </a:prstGeom>
          <a:noFill/>
        </p:spPr>
        <p:txBody>
          <a:bodyPr wrap="none" lIns="1482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lus Jakarta Sans"/>
              </a:rPr>
              <a:t>概念辨析与协同信息（XOR 理想教学算例）</a:t>
            </a:r>
            <a:endParaRPr sz="1500" b="1" i="0" u="none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8200" y="5334000"/>
            <a:ext cx="622175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注意：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Quantification 指</a:t>
            </a:r>
            <a:r>
              <a:rPr sz="1350" b="1" i="0" u="none">
                <a:solidFill>
                  <a:srgbClr val="1E293B"/>
                </a:solidFill>
                <a:latin typeface="Plus Jakarta Sans"/>
              </a:rPr>
              <a:t>经验与理论分析度量</a:t>
            </a:r>
            <a:r>
              <a:rPr sz="1350" b="0" i="0" u="none">
                <a:solidFill>
                  <a:srgbClr val="1E293B"/>
                </a:solidFill>
                <a:latin typeface="Plus Jakarta Sans"/>
              </a:rPr>
              <a:t>，不是低比特模型压缩。假设 A、B 独立且均匀取 0/1：只看一路的最优准确率为 50%，联合可达 100%。这是理想算例，不是真实模型成绩。</a:t>
            </a:r>
            <a:endParaRPr sz="1350" b="0" i="0" u="none">
              <a:solidFill>
                <a:srgbClr val="1E293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5638800"/>
            <a:ext cx="11049000" cy="8001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71637"/>
            <a:ext cx="2430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02160" y="167163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1960" y="1671637"/>
            <a:ext cx="64085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386012"/>
            <a:ext cx="2430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02160" y="2386012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1960" y="2386012"/>
            <a:ext cx="64085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100387"/>
            <a:ext cx="2430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02160" y="310038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1960" y="3100387"/>
            <a:ext cx="64085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814762"/>
            <a:ext cx="2430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02160" y="3814762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1960" y="3814762"/>
            <a:ext cx="64085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529137"/>
            <a:ext cx="24306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02160" y="452913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1960" y="4529137"/>
            <a:ext cx="64085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5838825"/>
            <a:ext cx="133498" cy="171450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71500" y="1200150"/>
          <a:ext cx="11048999" cy="3343275"/>
        </p:xfrm>
        <a:graphic>
          <a:graphicData uri="http://schemas.openxmlformats.org/drawingml/2006/table">
            <a:tbl>
              <a:tblPr/>
              <a:tblGrid>
                <a:gridCol w="2430660"/>
                <a:gridCol w="2209800"/>
                <a:gridCol w="6408539"/>
              </a:tblGrid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研究主题（框架应用）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对应主论文挑战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可用于后续阅读的研究问题</a:t>
                      </a:r>
                      <a:endParaRPr sz="135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多模态大语言模型</a:t>
                      </a:r>
                      <a:r>
                        <a:t>
</a:t>
                      </a:r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框架应用：表示与迁移</a:t>
                      </a:r>
                      <a:endParaRPr sz="1050" b="0" i="0" u="none">
                        <a:solidFill>
                          <a:srgbClr val="64748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表示 · 对齐 · 迁移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视觉编码器通过连接器接入 LLM 后，是否真正保留了回答细粒度问题所需的空间与局部视觉细节？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多步推理与证据使用</a:t>
                      </a:r>
                      <a:r>
                        <a:t>
</a:t>
                      </a:r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原文 §5 与 §9.1</a:t>
                      </a:r>
                      <a:endParaRPr sz="1050" b="0" i="0" u="none">
                        <a:solidFill>
                          <a:srgbClr val="64748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推理 · 量化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增加推理步骤后，收益来自更准确地读取画面，还是更好地组合证据？如何排除语言捷径？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多模态幻觉检测与评测</a:t>
                      </a:r>
                      <a:r>
                        <a:t>
</a:t>
                      </a:r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框架应用：生成可靠性</a:t>
                      </a:r>
                      <a:endParaRPr sz="1050" b="0" i="0" u="none">
                        <a:solidFill>
                          <a:srgbClr val="64748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生成 · 量化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严格区分“输入忠实度”（图中没有却说有）与“世界事实性”错误，避免单一总分掩盖真实缺陷。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统一理解与生成模型</a:t>
                      </a:r>
                      <a:r>
                        <a:t>
</a:t>
                      </a:r>
                      <a:r>
                        <a:rPr sz="105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框架应用：任务间迁移</a:t>
                      </a:r>
                      <a:endParaRPr sz="1050" b="0" i="0" u="none">
                        <a:solidFill>
                          <a:srgbClr val="64748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表示 · 生成 · 迁移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共享表示能否同时改善理解与生成？需控制数据、参数和训练预算。</a:t>
                      </a:r>
                      <a:endParaRPr sz="1350" b="0" i="0" u="none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1500" y="4191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CRITICAL EVALUATION &amp; RESEARCH QUESTIONS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1500" y="6096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论文的价值 边界与后续研究问题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0100" y="5810250"/>
            <a:ext cx="10687050" cy="457200"/>
          </a:xfrm>
          <a:prstGeom prst="rect">
            <a:avLst/>
          </a:prstGeom>
          <a:noFill/>
        </p:spPr>
        <p:txBody>
          <a:bodyPr wrap="square" lIns="1552872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 批判性阅读边界：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主论文公开 v2 更新于 2023 年，核心价值在于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提供跨越模型代际的分析语言与问题地图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本页为框架应用与讨论，不是原文实验或最新进展清单。</a:t>
            </a:r>
            <a:endParaRPr sz="1350" b="0" i="0" u="none">
              <a:solidFill>
                <a:srgbClr val="334155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943600"/>
            <a:ext cx="110490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" y="2133600"/>
            <a:ext cx="6103590" cy="2781300"/>
          </a:xfrm>
          <a:prstGeom prst="roundRect">
            <a:avLst>
              <a:gd name="adj" fmla="val 41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79890" y="2124075"/>
            <a:ext cx="4640609" cy="2800350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5943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419350"/>
            <a:ext cx="16311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540" y="2409825"/>
            <a:ext cx="163115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95300"/>
            <a:ext cx="1162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ACTIONABLE RESEARCH PLAN &amp; DISCUSSION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685800"/>
            <a:ext cx="116205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研一诊断性实验方案与组会讨论</a:t>
            </a:r>
            <a:endParaRPr sz="24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6105525"/>
            <a:ext cx="513717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谢谢聆听  欢迎讨论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91808" y="6148387"/>
            <a:ext cx="510019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参考文献：Liang et al., ACM Computing Surveys 2024 (arXiv:2209.03430v2)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9150" y="2381250"/>
            <a:ext cx="7360880" cy="285750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建议试验：模型是否使用视觉证据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27540" y="2371725"/>
            <a:ext cx="1427480" cy="253365"/>
          </a:xfrm>
          <a:prstGeom prst="rect">
            <a:avLst/>
          </a:prstGeom>
          <a:noFill/>
        </p:spPr>
        <p:txBody>
          <a:bodyPr wrap="none" lIns="16311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开放讨论问题</a:t>
            </a:r>
            <a:endParaRPr sz="16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27540" y="2771775"/>
            <a:ext cx="42405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结合自己的任务，先定位瓶颈：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71550" y="27670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8700" y="2781300"/>
            <a:ext cx="549399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可证伪假设 H1：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模型可能依赖语言捷径，关键视觉证据改变后未能正确更新答案。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1550" y="331946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8700" y="3333750"/>
            <a:ext cx="5493990" cy="6858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四组对照：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原图、关键证据修改、仅问题、无关背景修改；保持问题不变，核验新答案。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1550" y="4100512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28700" y="4114800"/>
            <a:ext cx="5493990" cy="45720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核心判读指标：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报告原图与编辑图准确率、成对同时答对率。检查编辑伪影，并估计置信区间。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79940" y="33670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37090" y="3381375"/>
            <a:ext cx="4754909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1.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信息缺失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（输入中是否已有所需证据）？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79940" y="36909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37090" y="3705225"/>
            <a:ext cx="4754909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2.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对齐错误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（时空或细粒度语义未对应）？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79940" y="401478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37090" y="4029075"/>
            <a:ext cx="4754909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3.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捷径依赖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（模型忽略了弱势模态证据）？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79940" y="4338637"/>
            <a:ext cx="57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37090" y="4352925"/>
            <a:ext cx="4754909" cy="22860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4.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评测盲区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（现有指标无法反映真实提升）？</a:t>
            </a:r>
            <a:endParaRPr sz="13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5251</Words>
  <Application>WPS 演示</Application>
  <PresentationFormat>On-screen Show (4:3)</PresentationFormat>
  <Paragraphs>426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Plus Jakarta Sans</vt:lpstr>
      <vt:lpstr>FFont-Family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leo</cp:lastModifiedBy>
  <cp:revision>2</cp:revision>
  <dcterms:created xsi:type="dcterms:W3CDTF">2013-01-27T09:14:00Z</dcterms:created>
  <dcterms:modified xsi:type="dcterms:W3CDTF">2026-10-22T16:06:19Z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2052-12.1.0.29158</vt:lpwstr>
  </property>
  <property fmtid="{D5CDD505-2E9C-101B-9397-08002B2CF9AE}" pid="3" name="ICV">
    <vt:lpwstr>1E57DB66A9274B11B7617F01E1A76001_12</vt:lpwstr>
  </property>
</Properties>
</file>